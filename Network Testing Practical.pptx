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B68A-9F34-323F-2036-FA97DB7C8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B6B05-84E5-F2F1-506C-F4C1ED16E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7C4CB-7C1C-92C9-955F-C14E60D3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8C10D-9F30-97D4-E627-04EC32D7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CFADD-E979-1B41-9968-6559D4AF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85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CD16-E678-0C1C-F673-A16882C99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31E74-9836-B65B-D4C1-7699C11F9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801A2-B0FB-3E89-1302-811A0C06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F7089-B2F8-2C7B-1281-DA3231A2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CF7DC-80E5-B239-0191-B7AE9D03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42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9746D-6899-3669-A9CF-027AADE5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A34-AEE7-F02F-71F5-F28F07FDD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A8E8B-E334-B0DA-D256-9615C4ED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710B1-CC4B-61C8-1900-FB4794D10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786B8-4FD0-9767-2CDC-C862FEBBC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A82C-53D0-BA7E-C05E-ABDEC68C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B079-FCE0-94F8-1D35-B74B4E1AE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490E6-255F-13FA-37DB-30484A076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0F27C-FAD5-9CA0-785F-DB328337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EC962-7873-60C0-4AA9-2E98B0750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77776-83FD-B25F-9649-519AC07E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33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FD56-588F-D0E8-5429-2E80AADB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30E03-F403-7BC4-3E60-E825C897E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159B6-FF51-71E5-8B58-1AC7F784E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EA01E-D1C3-A471-4B4C-F093FB999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A455B-0A24-A562-2B9F-2B7C5B606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63C82-EB22-A357-7A56-7B294F36F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709FD5-DE96-AC6E-68FC-6121A56A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6B415-66BB-C053-5521-F0D7AE56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13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2722-8F13-F725-CD78-2EDCD1AD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DFCB5-9E69-ED14-0615-B5F166A9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E3A6B-AF01-D342-3288-0D8CD8E5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901E5-1B2B-075C-FED1-7E15EC9F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7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C792D-46AF-305D-33B6-38390723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95947-A3E5-AE68-CE2C-8996BDB1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6F372-C98A-F9E9-F13E-C016D6DF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26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8744-3B3E-916E-528F-6D23B7B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944FD-B91E-27C2-853B-A85DD0781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70EB7-AF02-8C05-BB2A-E4ED5EA4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F3DC2-A4F8-442A-70A2-19ED7CA7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62E16-802C-7A3C-CCA8-44402C19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5763-1059-03D0-F1F1-1D6C7898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60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DF8B-AB37-9654-99C4-53318792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FFE99-91DC-0DE8-5CC3-58EB15B356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B20F3-0F7E-1DEB-2587-08B14FBFF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2DAF0-1484-FDE0-9A82-4D7C1E82F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DDAA0-2E5D-F837-2568-08C5B4B0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9A1A2-607B-E973-4F4E-64D9B5DD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65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6DBA-2608-5CEA-060C-A581B0A0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E4F50-135A-F630-FE4D-0169A5312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8ADF-94DC-F750-0544-57645D48A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8E4DF-061F-8017-08F7-56A84A91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3CFE2-3754-9723-A470-13A3350A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1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C1345-C717-6543-03C5-E6D792E54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758E2-9520-7F25-E847-55D9082AA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8C5D-ADDB-B3E0-CEFF-EA0CEFBC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87BF8-671C-3D98-125B-0D19FB5D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34011-2726-C943-CDE8-E181F2A0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2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C218D-7BB4-A00E-5ECE-8A2ECC03F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D14F9-D72B-D8F9-AC74-847688A9A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D55F6-55D3-3266-2D2A-90E13290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C6D8-C9F9-4914-865C-A4BE92073E9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C5E6B-F795-E9D8-EE82-7B43D7C32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F2603-CEF4-4303-07FC-FEC43F966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22499-54B4-4E7B-A0F5-2FC33B1280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2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7E8E88-F5ED-FC24-8521-39FB281A1711}"/>
              </a:ext>
            </a:extLst>
          </p:cNvPr>
          <p:cNvSpPr txBox="1"/>
          <p:nvPr/>
        </p:nvSpPr>
        <p:spPr>
          <a:xfrm>
            <a:off x="195308" y="1573567"/>
            <a:ext cx="89375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Setup:</a:t>
            </a:r>
            <a:r>
              <a:rPr lang="en-IN" dirty="0"/>
              <a:t> Ensure both your laptop and another device (such as a smartphone or a second laptop) are connected to the exact same Wi-Fi network.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Finding the Target IP:</a:t>
            </a:r>
            <a:r>
              <a:rPr lang="en-IN" dirty="0"/>
              <a:t> On the phone or target device, check the Wi-Fi settings to note down its assigned local IPv4 address (e.g., </a:t>
            </a:r>
            <a:r>
              <a:rPr lang="en-IN" dirty="0">
                <a:latin typeface="+mn-lt"/>
              </a:rPr>
              <a:t>192.168.1.15</a:t>
            </a:r>
            <a:r>
              <a:rPr lang="en-IN" dirty="0"/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Running the Ping Command: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Open the </a:t>
            </a:r>
            <a:r>
              <a:rPr lang="en-IN" b="1" dirty="0"/>
              <a:t>Command Prompt</a:t>
            </a:r>
            <a:r>
              <a:rPr lang="en-IN" dirty="0"/>
              <a:t> (</a:t>
            </a:r>
            <a:r>
              <a:rPr lang="en-IN" dirty="0" err="1">
                <a:latin typeface="+mn-lt"/>
              </a:rPr>
              <a:t>cmd</a:t>
            </a:r>
            <a:r>
              <a:rPr lang="en-IN" dirty="0"/>
              <a:t>) on your laptop.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Type </a:t>
            </a:r>
            <a:r>
              <a:rPr lang="en-IN" dirty="0">
                <a:latin typeface="+mn-lt"/>
              </a:rPr>
              <a:t>ping 192.168.1.15</a:t>
            </a:r>
            <a:r>
              <a:rPr lang="en-IN" dirty="0"/>
              <a:t> and press Enter.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Observation:</a:t>
            </a:r>
            <a:r>
              <a:rPr lang="en-IN" dirty="0"/>
              <a:t> If communication is successful, you will see continuous packet replies showing packet size, response time (latency in milliseconds), and TTL (Time to Live) values with 0% packet loss.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90354-4D3B-7739-2CDF-05566DFDD700}"/>
              </a:ext>
            </a:extLst>
          </p:cNvPr>
          <p:cNvSpPr txBox="1"/>
          <p:nvPr/>
        </p:nvSpPr>
        <p:spPr>
          <a:xfrm>
            <a:off x="3482266" y="19734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Ping Test Between Laptop and Another Device</a:t>
            </a:r>
          </a:p>
        </p:txBody>
      </p:sp>
    </p:spTree>
    <p:extLst>
      <p:ext uri="{BB962C8B-B14F-4D97-AF65-F5344CB8AC3E}">
        <p14:creationId xmlns:p14="http://schemas.microsoft.com/office/powerpoint/2010/main" val="331925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4C620B-5840-7C35-A2F3-6F3F6EDA7300}"/>
              </a:ext>
            </a:extLst>
          </p:cNvPr>
          <p:cNvSpPr txBox="1"/>
          <p:nvPr/>
        </p:nvSpPr>
        <p:spPr>
          <a:xfrm>
            <a:off x="479393" y="665825"/>
            <a:ext cx="11434439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FFFF00"/>
                </a:highlight>
              </a:rPr>
              <a:t>Traceroute to YouTube (</a:t>
            </a:r>
            <a:r>
              <a:rPr lang="en-IN" sz="2800" b="1" dirty="0">
                <a:highlight>
                  <a:srgbClr val="FFFF00"/>
                </a:highlight>
                <a:latin typeface="+mn-lt"/>
              </a:rPr>
              <a:t>[www.youtube.com](https://www.youtube.com)</a:t>
            </a:r>
            <a:r>
              <a:rPr lang="en-IN" sz="2800" b="1" dirty="0">
                <a:highlight>
                  <a:srgbClr val="FFFF00"/>
                </a:highlight>
              </a:rPr>
              <a:t>)</a:t>
            </a:r>
          </a:p>
          <a:p>
            <a:r>
              <a:rPr lang="en-IN" sz="2800" b="1" dirty="0"/>
              <a:t>Running the Command:</a:t>
            </a:r>
            <a:r>
              <a:rPr lang="en-IN" sz="2800" dirty="0"/>
              <a:t> Open Command Prompt and </a:t>
            </a:r>
            <a:r>
              <a:rPr lang="en-IN" sz="2800" dirty="0" err="1"/>
              <a:t>type:DOS</a:t>
            </a:r>
            <a:endParaRPr lang="en-IN" sz="2800" dirty="0"/>
          </a:p>
          <a:p>
            <a:r>
              <a:rPr lang="en-IN" dirty="0" err="1"/>
              <a:t>tracert</a:t>
            </a:r>
            <a:r>
              <a:rPr lang="en-IN" dirty="0"/>
              <a:t> www.youtube.com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effectLst/>
              </a:rPr>
              <a:t>DOS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 err="1">
                <a:effectLst/>
                <a:latin typeface="+mn-lt"/>
              </a:rPr>
              <a:t>tracert</a:t>
            </a:r>
            <a:r>
              <a:rPr lang="en-IN" sz="2800" dirty="0">
                <a:effectLst/>
                <a:latin typeface="+mn-lt"/>
              </a:rPr>
              <a:t> www.youtube.com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Analysis of Hops:</a:t>
            </a:r>
            <a:r>
              <a:rPr lang="en-IN" sz="2800" dirty="0"/>
              <a:t> The command traces the path packets take across the internet to reach YouTube's servers.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Typical Observations:</a:t>
            </a:r>
            <a:r>
              <a:rPr lang="en-IN" sz="2800" dirty="0"/>
              <a:t> It typically takes between </a:t>
            </a:r>
            <a:r>
              <a:rPr lang="en-IN" sz="2800" b="1" dirty="0"/>
              <a:t>10 to 18 hops</a:t>
            </a:r>
            <a:r>
              <a:rPr lang="en-IN" sz="2800" dirty="0"/>
              <a:t> depending on your ISP. The first hop is your local router gateway (</a:t>
            </a:r>
            <a:r>
              <a:rPr lang="en-IN" sz="2800" dirty="0">
                <a:latin typeface="+mn-lt"/>
              </a:rPr>
              <a:t>192.168.1.1</a:t>
            </a:r>
            <a:r>
              <a:rPr lang="en-IN" sz="2800" dirty="0"/>
              <a:t>), followed by multiple intermediate ISP routing nodes, regional exchange servers, and finally YouTube's edge network servers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53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25FCA-2FEA-864F-D620-4D2F94226796}"/>
              </a:ext>
            </a:extLst>
          </p:cNvPr>
          <p:cNvSpPr txBox="1"/>
          <p:nvPr/>
        </p:nvSpPr>
        <p:spPr>
          <a:xfrm>
            <a:off x="62144" y="195309"/>
            <a:ext cx="90796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highlight>
                  <a:srgbClr val="00FF00"/>
                </a:highlight>
              </a:rPr>
              <a:t>Pinging a Disconnected Device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Action:</a:t>
            </a:r>
            <a:r>
              <a:rPr lang="en-IN" sz="2800" dirty="0"/>
              <a:t> Disconnect the target test device (smartphone) completely from the Wi-Fi network.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Retrying the Ping:</a:t>
            </a:r>
            <a:r>
              <a:rPr lang="en-IN" sz="2800" dirty="0"/>
              <a:t> Run the ping command again from your laptop (</a:t>
            </a:r>
            <a:r>
              <a:rPr lang="en-IN" sz="2800" dirty="0">
                <a:latin typeface="+mn-lt"/>
              </a:rPr>
              <a:t>ping 192.168.1.15</a:t>
            </a:r>
            <a:r>
              <a:rPr lang="en-IN" sz="2800" dirty="0"/>
              <a:t>).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b="1" dirty="0"/>
              <a:t>Observed Error Messages:</a:t>
            </a:r>
            <a:r>
              <a:rPr lang="en-IN" sz="2800" dirty="0"/>
              <a:t> Because the device is offline and no longer recognized on the local network, you will receive failure error messages such as: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“Request timed out.”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sz="2800" i="1" dirty="0"/>
              <a:t>“Destination host unreachable.”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5051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206131-7F63-BDAB-EED5-FE1411316207}"/>
              </a:ext>
            </a:extLst>
          </p:cNvPr>
          <p:cNvSpPr txBox="1"/>
          <p:nvPr/>
        </p:nvSpPr>
        <p:spPr>
          <a:xfrm>
            <a:off x="367684" y="526403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N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highlight>
                  <a:srgbClr val="000080"/>
                </a:highlight>
                <a:latin typeface="+mn-lt"/>
              </a:rPr>
              <a:t>ARP Table Listing (</a:t>
            </a:r>
            <a:r>
              <a:rPr lang="en-IN" b="1" dirty="0" err="1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highlight>
                  <a:srgbClr val="000080"/>
                </a:highlight>
                <a:latin typeface="+mn-lt"/>
              </a:rPr>
              <a:t>arp</a:t>
            </a:r>
            <a:r>
              <a:rPr lang="en-IN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highlight>
                  <a:srgbClr val="000080"/>
                </a:highlight>
                <a:latin typeface="+mn-lt"/>
              </a:rPr>
              <a:t> -a)</a:t>
            </a:r>
          </a:p>
          <a:p>
            <a:pPr marL="0" marR="0" lvl="0" indent="-342900">
              <a:buFont typeface="+mj-lt"/>
              <a:buAutoNum type="arabicPeriod"/>
            </a:pPr>
            <a:r>
              <a:rPr lang="en-IN" b="1" dirty="0">
                <a:effectLst/>
                <a:latin typeface="+mn-lt"/>
              </a:rPr>
              <a:t>Running the Command:</a:t>
            </a:r>
            <a:r>
              <a:rPr lang="en-IN" dirty="0">
                <a:effectLst/>
                <a:latin typeface="+mn-lt"/>
              </a:rPr>
              <a:t> Open Command Prompt and type </a:t>
            </a:r>
            <a:r>
              <a:rPr lang="en-IN" dirty="0" err="1">
                <a:effectLst/>
                <a:latin typeface="+mn-lt"/>
              </a:rPr>
              <a:t>arp</a:t>
            </a:r>
            <a:r>
              <a:rPr lang="en-IN" dirty="0">
                <a:effectLst/>
                <a:latin typeface="+mn-lt"/>
              </a:rPr>
              <a:t> -a to view the Address Resolution Protocol cache mapping IP addresses to physical MAC addresses.</a:t>
            </a:r>
            <a:endParaRPr lang="en-IN" dirty="0"/>
          </a:p>
          <a:p>
            <a:pPr marL="0" marR="0" lvl="0" indent="-342900">
              <a:buFont typeface="+mj-lt"/>
              <a:buAutoNum type="arabicPeriod"/>
            </a:pPr>
            <a:endParaRPr lang="en-IN" dirty="0">
              <a:effectLst/>
              <a:latin typeface="+mn-lt"/>
            </a:endParaRPr>
          </a:p>
          <a:p>
            <a:pPr marL="0" marR="0" lvl="0" indent="-342900">
              <a:buFont typeface="+mj-lt"/>
              <a:buAutoNum type="arabicPeriod"/>
            </a:pPr>
            <a:r>
              <a:rPr lang="en-IN" b="1" dirty="0">
                <a:effectLst/>
                <a:latin typeface="+mn-lt"/>
              </a:rPr>
              <a:t>Sample Device Identification Table:</a:t>
            </a:r>
            <a:endParaRPr lang="en-IN" dirty="0">
              <a:effectLst/>
              <a:latin typeface="Google Sans Tex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632FD5-5A11-5666-A9B5-C9D5E16A5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199740"/>
              </p:ext>
            </p:extLst>
          </p:nvPr>
        </p:nvGraphicFramePr>
        <p:xfrm>
          <a:off x="204186" y="2281561"/>
          <a:ext cx="11896080" cy="4509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4020">
                  <a:extLst>
                    <a:ext uri="{9D8B030D-6E8A-4147-A177-3AD203B41FA5}">
                      <a16:colId xmlns:a16="http://schemas.microsoft.com/office/drawing/2014/main" val="1095710962"/>
                    </a:ext>
                  </a:extLst>
                </a:gridCol>
                <a:gridCol w="2974020">
                  <a:extLst>
                    <a:ext uri="{9D8B030D-6E8A-4147-A177-3AD203B41FA5}">
                      <a16:colId xmlns:a16="http://schemas.microsoft.com/office/drawing/2014/main" val="992394833"/>
                    </a:ext>
                  </a:extLst>
                </a:gridCol>
                <a:gridCol w="2974020">
                  <a:extLst>
                    <a:ext uri="{9D8B030D-6E8A-4147-A177-3AD203B41FA5}">
                      <a16:colId xmlns:a16="http://schemas.microsoft.com/office/drawing/2014/main" val="4011511383"/>
                    </a:ext>
                  </a:extLst>
                </a:gridCol>
                <a:gridCol w="2974020">
                  <a:extLst>
                    <a:ext uri="{9D8B030D-6E8A-4147-A177-3AD203B41FA5}">
                      <a16:colId xmlns:a16="http://schemas.microsoft.com/office/drawing/2014/main" val="4117180399"/>
                    </a:ext>
                  </a:extLst>
                </a:gridCol>
              </a:tblGrid>
              <a:tr h="98234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IP Address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Physical (MAC) Address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Type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Identified Device / Gadget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85661009"/>
                  </a:ext>
                </a:extLst>
              </a:tr>
              <a:tr h="98234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192.168.1.1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ac-84-c6-xx-xx-xx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Dynamic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Main Wi-Fi Router / Gateway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71038412"/>
                  </a:ext>
                </a:extLst>
              </a:tr>
              <a:tr h="98234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192.168.1.15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74-da-da-xx-xx-xx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Dynamic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Personal Smartphone (Android)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806076948"/>
                  </a:ext>
                </a:extLst>
              </a:tr>
              <a:tr h="580476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192.168.1.20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28-f0-76-xx-xx-xx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Dynamic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Laptop Computer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24111405"/>
                  </a:ext>
                </a:extLst>
              </a:tr>
              <a:tr h="98234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192.168.1.25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b4-e6-2a-xx-xx-xx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>
                          <a:effectLst/>
                        </a:rPr>
                        <a:t>Dynamic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IN" dirty="0">
                          <a:effectLst/>
                        </a:rPr>
                        <a:t>Smart TV / Streaming Box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007303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84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A90BEF-B7AD-6578-3CC5-4142F5B55B3A}"/>
              </a:ext>
            </a:extLst>
          </p:cNvPr>
          <p:cNvSpPr txBox="1"/>
          <p:nvPr/>
        </p:nvSpPr>
        <p:spPr>
          <a:xfrm>
            <a:off x="50307" y="0"/>
            <a:ext cx="1209138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dirty="0">
                <a:effectLst/>
              </a:rPr>
              <a:t>Network Setup and Testing Report</a:t>
            </a:r>
          </a:p>
          <a:p>
            <a:pPr rtl="0">
              <a:buNone/>
            </a:pPr>
            <a:r>
              <a:rPr lang="en-IN" sz="2000" b="1" dirty="0">
                <a:effectLst/>
              </a:rPr>
              <a:t>Network Testing &amp; Connectivity Report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Date:</a:t>
            </a:r>
            <a:r>
              <a:rPr lang="en-IN" sz="2000" dirty="0">
                <a:effectLst/>
              </a:rPr>
              <a:t> October 26, 2026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Topic:</a:t>
            </a:r>
            <a:r>
              <a:rPr lang="en-IN" sz="2000" dirty="0">
                <a:effectLst/>
              </a:rPr>
              <a:t> Basic Network Setup, Connectivity Verification, and Diagnostic Testing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</a:rPr>
              <a:t>Objective:</a:t>
            </a:r>
            <a:r>
              <a:rPr lang="en-IN" sz="2000" dirty="0">
                <a:effectLst/>
              </a:rPr>
              <a:t> To establish a local network connection, map connected hardware, and test network pathways using </a:t>
            </a:r>
            <a:r>
              <a:rPr lang="en-IN" sz="2000" dirty="0">
                <a:effectLst/>
                <a:latin typeface="+mn-lt"/>
              </a:rPr>
              <a:t>ping</a:t>
            </a:r>
            <a:r>
              <a:rPr lang="en-IN" sz="2000" dirty="0">
                <a:effectLst/>
              </a:rPr>
              <a:t>, </a:t>
            </a:r>
            <a:r>
              <a:rPr lang="en-IN" sz="2000" dirty="0" err="1">
                <a:effectLst/>
                <a:latin typeface="+mn-lt"/>
              </a:rPr>
              <a:t>tracert</a:t>
            </a:r>
            <a:r>
              <a:rPr lang="en-IN" sz="2000" dirty="0">
                <a:effectLst/>
              </a:rPr>
              <a:t>, and </a:t>
            </a:r>
            <a:r>
              <a:rPr lang="en-IN" sz="2000" dirty="0" err="1">
                <a:effectLst/>
                <a:latin typeface="+mn-lt"/>
              </a:rPr>
              <a:t>arp</a:t>
            </a:r>
            <a:r>
              <a:rPr lang="en-IN" sz="2000" dirty="0">
                <a:effectLst/>
              </a:rPr>
              <a:t>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endParaRPr lang="en-IN" sz="2000" dirty="0">
              <a:effectLst/>
            </a:endParaRPr>
          </a:p>
          <a:p>
            <a:pPr rtl="0">
              <a:buNone/>
            </a:pPr>
            <a:r>
              <a:rPr lang="en-IN" sz="2000" b="1" dirty="0">
                <a:effectLst/>
                <a:highlight>
                  <a:srgbClr val="FFFF00"/>
                </a:highlight>
              </a:rPr>
              <a:t>1. Network Setup &amp; Configuration</a:t>
            </a:r>
          </a:p>
          <a:p>
            <a:pPr rtl="0">
              <a:buNone/>
            </a:pPr>
            <a:r>
              <a:rPr lang="en-IN" sz="2000" dirty="0">
                <a:effectLst/>
              </a:rPr>
              <a:t>The local network was established by connecting client devices (laptop and mobile phone) to a wireless router operating on a standard private subnet (</a:t>
            </a:r>
            <a:r>
              <a:rPr lang="en-IN" sz="2000" dirty="0">
                <a:effectLst/>
                <a:latin typeface="+mn-lt"/>
              </a:rPr>
              <a:t>192.168.1.0/24</a:t>
            </a:r>
            <a:r>
              <a:rPr lang="en-IN" sz="2000" dirty="0">
                <a:effectLst/>
              </a:rPr>
              <a:t>). Dynamic Host Configuration Protocol (DHCP) automatically assigned unique IPv4 addresses, subnet masks (</a:t>
            </a:r>
            <a:r>
              <a:rPr lang="en-IN" sz="2000" dirty="0">
                <a:effectLst/>
                <a:latin typeface="+mn-lt"/>
              </a:rPr>
              <a:t>255.255.255.0</a:t>
            </a:r>
            <a:r>
              <a:rPr lang="en-IN" sz="2000" dirty="0">
                <a:effectLst/>
              </a:rPr>
              <a:t>), and the default gateway (</a:t>
            </a:r>
            <a:r>
              <a:rPr lang="en-IN" sz="2000" dirty="0">
                <a:effectLst/>
                <a:latin typeface="+mn-lt"/>
              </a:rPr>
              <a:t>192.168.1.1</a:t>
            </a:r>
            <a:r>
              <a:rPr lang="en-IN" sz="2000" dirty="0">
                <a:effectLst/>
              </a:rPr>
              <a:t>) to all participating client nodes.</a:t>
            </a:r>
          </a:p>
          <a:p>
            <a:pPr rtl="0">
              <a:buNone/>
            </a:pPr>
            <a:endParaRPr lang="en-IN" sz="2000" dirty="0">
              <a:effectLst/>
            </a:endParaRPr>
          </a:p>
          <a:p>
            <a:pPr rtl="0">
              <a:buNone/>
            </a:pPr>
            <a:r>
              <a:rPr lang="en-IN" sz="2000" b="1" dirty="0">
                <a:effectLst/>
                <a:highlight>
                  <a:srgbClr val="FFFF00"/>
                </a:highlight>
              </a:rPr>
              <a:t>2. Connectivity Testing (Ping &amp; ARP)</a:t>
            </a:r>
          </a:p>
          <a:p>
            <a:pPr rtl="0">
              <a:buNone/>
            </a:pPr>
            <a:r>
              <a:rPr lang="en-IN" sz="2000" dirty="0">
                <a:effectLst/>
              </a:rPr>
              <a:t>To verify local communication between devices on the same LAN, the </a:t>
            </a:r>
            <a:r>
              <a:rPr lang="en-IN" sz="2000" dirty="0">
                <a:effectLst/>
                <a:latin typeface="+mn-lt"/>
              </a:rPr>
              <a:t>ping</a:t>
            </a:r>
            <a:r>
              <a:rPr lang="en-IN" sz="2000" dirty="0">
                <a:effectLst/>
              </a:rPr>
              <a:t> utility was executed between the laptop and a smartphone.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</a:rPr>
              <a:t>Successful round-trip times (RTT) averaged between </a:t>
            </a:r>
            <a:r>
              <a:rPr lang="en-IN" sz="2000" b="1" dirty="0">
                <a:effectLst/>
              </a:rPr>
              <a:t>2ms to 5ms</a:t>
            </a:r>
            <a:r>
              <a:rPr lang="en-IN" sz="2000" dirty="0">
                <a:effectLst/>
              </a:rPr>
              <a:t>, confirming stable wireless link quality.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</a:rPr>
              <a:t>Running the </a:t>
            </a:r>
            <a:r>
              <a:rPr lang="en-IN" sz="2000" dirty="0" err="1">
                <a:effectLst/>
                <a:latin typeface="+mn-lt"/>
              </a:rPr>
              <a:t>arp</a:t>
            </a:r>
            <a:r>
              <a:rPr lang="en-IN" sz="2000" dirty="0">
                <a:effectLst/>
                <a:latin typeface="+mn-lt"/>
              </a:rPr>
              <a:t> -a</a:t>
            </a:r>
            <a:r>
              <a:rPr lang="en-IN" sz="2000" dirty="0">
                <a:effectLst/>
              </a:rPr>
              <a:t> command successfully revealed the hardware MAC addresses corresponding to active local IPs, verifying how the data link layer maps physical interfaces to network layer addresses.</a:t>
            </a:r>
          </a:p>
        </p:txBody>
      </p:sp>
    </p:spTree>
    <p:extLst>
      <p:ext uri="{BB962C8B-B14F-4D97-AF65-F5344CB8AC3E}">
        <p14:creationId xmlns:p14="http://schemas.microsoft.com/office/powerpoint/2010/main" val="312826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DB4618-9450-F767-2C46-1666DBCAD49D}"/>
              </a:ext>
            </a:extLst>
          </p:cNvPr>
          <p:cNvSpPr txBox="1"/>
          <p:nvPr/>
        </p:nvSpPr>
        <p:spPr>
          <a:xfrm>
            <a:off x="239697" y="133165"/>
            <a:ext cx="1155872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800" b="1" dirty="0">
                <a:effectLst/>
                <a:highlight>
                  <a:srgbClr val="FFFF00"/>
                </a:highlight>
              </a:rPr>
              <a:t>3. Path Analysis (Traceroute)</a:t>
            </a:r>
          </a:p>
          <a:p>
            <a:pPr rtl="0">
              <a:buNone/>
            </a:pPr>
            <a:r>
              <a:rPr lang="en-IN" sz="2800" dirty="0">
                <a:effectLst/>
              </a:rPr>
              <a:t>To test wide-area network (WAN) routing performance, </a:t>
            </a:r>
            <a:r>
              <a:rPr lang="en-IN" sz="2800" dirty="0" err="1">
                <a:effectLst/>
                <a:latin typeface="+mn-lt"/>
              </a:rPr>
              <a:t>tracert</a:t>
            </a:r>
            <a:r>
              <a:rPr lang="en-IN" sz="2800" dirty="0">
                <a:effectLst/>
                <a:latin typeface="+mn-lt"/>
              </a:rPr>
              <a:t> [www.youtube.com](https://www.youtube.com)</a:t>
            </a:r>
            <a:r>
              <a:rPr lang="en-IN" sz="2800" dirty="0">
                <a:effectLst/>
              </a:rPr>
              <a:t> was executed.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The trace demonstrated how data packets traverse multiple routers across different autonomous systems.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Initial hops showed rapid transit through local ISP switches, while subsequent hops exhibited higher latency as packets crossed regional </a:t>
            </a:r>
            <a:r>
              <a:rPr lang="en-IN" sz="2800" dirty="0" err="1">
                <a:effectLst/>
              </a:rPr>
              <a:t>fiber</a:t>
            </a:r>
            <a:r>
              <a:rPr lang="en-IN" sz="2800" dirty="0">
                <a:effectLst/>
              </a:rPr>
              <a:t> backbones to reach content delivery network (CDN) nodes.</a:t>
            </a:r>
          </a:p>
          <a:p>
            <a:pPr rtl="0">
              <a:buNone/>
            </a:pPr>
            <a:r>
              <a:rPr lang="en-IN" sz="2800" b="1" dirty="0">
                <a:effectLst/>
                <a:highlight>
                  <a:srgbClr val="FFFF00"/>
                </a:highlight>
              </a:rPr>
              <a:t>4. Troubleshooting &amp; Error Observations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When testing connectivity to a device disconnected from the network, the ping utility returned </a:t>
            </a:r>
            <a:r>
              <a:rPr lang="en-IN" sz="2800" b="1" dirty="0">
                <a:effectLst/>
              </a:rPr>
              <a:t>"Request timed out"</a:t>
            </a:r>
            <a:r>
              <a:rPr lang="en-IN" sz="2800" dirty="0">
                <a:effectLst/>
              </a:rPr>
              <a:t> errors. This confirmed that network layer reachability depends entirely on active association and proper DHCP/IP state binding.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</a:rPr>
              <a:t>No major bottlenecks or packet drops were observed during local testing, confirming healthy link integrity.</a:t>
            </a:r>
          </a:p>
        </p:txBody>
      </p:sp>
    </p:spTree>
    <p:extLst>
      <p:ext uri="{BB962C8B-B14F-4D97-AF65-F5344CB8AC3E}">
        <p14:creationId xmlns:p14="http://schemas.microsoft.com/office/powerpoint/2010/main" val="1627990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734</Words>
  <Application>Microsoft Office PowerPoint</Application>
  <PresentationFormat>Widescreen</PresentationFormat>
  <Paragraphs>67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shrimali</dc:creator>
  <cp:lastModifiedBy>Mayur shrimali</cp:lastModifiedBy>
  <cp:revision>1</cp:revision>
  <dcterms:created xsi:type="dcterms:W3CDTF">2026-10-27T05:55:05Z</dcterms:created>
  <dcterms:modified xsi:type="dcterms:W3CDTF">2026-10-27T06:04:42Z</dcterms:modified>
</cp:coreProperties>
</file>