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5103-72D5-24C8-36B7-0E93CF858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CF138-E056-B103-5A30-D70FE35C0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3FFBD-7F49-0593-4E7C-A3020465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7F6AC-DAEE-A421-F8BC-797E6B37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635A3-AEB2-545E-B08F-DB021984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25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DB03-B6EB-059B-2E5B-DFFB51AF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4C830-9C51-8B01-18E4-C91864F40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57583-80A4-6237-5958-6E52B732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2CB3A-49ED-4BBC-D85D-D277D4CE5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BAE81-2FA7-0519-D569-D8A706F48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6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A7CB-AE50-03FE-5FFB-68C5E27AD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48C47-D277-AF71-8E17-688F0B1C4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D05AE-A15D-F499-5884-EC64AF2F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6F0E3-C388-E418-A095-62E69103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1A5F6-DB75-47D7-1DF0-3FDDB20B3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87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A967-7D41-5FF5-9FA5-460B69E3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5DF8B-900E-5F6B-BA21-791E6C278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B4AA3-6803-6E96-DB3A-557B2F9F8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23BB4-ED7C-EE89-BDE6-843167833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6B7CC-BD52-9C67-2FFC-48E20EC0E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B5A3C-DD19-5B1A-534B-A8B550BA9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96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0449F-E75C-613A-64C1-9BCA6CEB6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56388-0908-AB1E-26B4-B10E97FEF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5461E-73B2-AD59-C6F2-CE6EFEFF6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68C52-A568-FFD6-607A-842DD0D0E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A753B-023C-B66D-9533-A71EB5FA8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075B2-FF7A-B24F-408C-9C40EA44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EB2509-D080-CBB2-7B60-B24CFCB32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7FCD7-D9FD-BE79-A3B1-4E8085A7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33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9ACD7-1F5F-419E-FDB1-9EDC2A0A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84623-3F78-52C1-FC85-C0C1DE48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CF3E3-EB12-94B6-B32E-5FE4D1CF8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2145-87AC-C836-975E-923185C5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84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6A6F8-6FFC-DCC0-B316-1CE5CC90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85170-A5C8-3196-096C-EE874488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AF41F-D019-2B20-E741-E7A8D14A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51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969B-BF2B-E1FC-8C48-5C50DC136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C7A0-D13E-0697-DF56-7FD3323A9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7DD75-CA53-644D-8DD1-0C768215E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13738-EE8B-E15C-40B0-A58F127A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31535-A1E6-F7AF-0E8E-09C4E7692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0D625-FAD7-4468-A7BE-6C42839E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45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CBAA-D5A1-D982-46B3-3B158386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B81ACB-D530-DA4F-5F54-7722E9D2A4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BAC2F-50DA-1E8C-02C4-783314DB3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12F5E-2556-F8D3-DECD-BA75F803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23F01-18FA-54AC-D71F-B56955DC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D30B-4099-7295-8839-500DCDD1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89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5675-D872-85FE-D6A7-78983A98D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71A49-F1FE-5890-4D76-182CC7520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8108B-1872-7106-1DD2-7B15DD97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1D1B8-A0BB-8431-22D4-2F8284F8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1434F-B7E0-7706-15E5-32045BC2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667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BCF7B-D00B-533F-A082-8642454F9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01E52-EB28-5560-65DE-89902C894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D64DB-688B-D838-2973-F92BC8E2B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B885E-941E-95E5-0300-1184EC46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FB48C-F43D-820F-3477-98E8BAA9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575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6A7DFD-7F35-4ED0-1270-BFF74896D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E74C3-124D-991C-6394-937E96410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B0111-9C55-0F2B-906F-99AF0C83F0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D414E-D7E3-4367-856F-FABB63FACEED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1A28A-6A7A-01A2-5D9B-F3E4C1B3F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758BF-0942-7EB9-D3C1-7702F32D3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16E00-299E-4A01-9455-DCA9F9EB0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53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15F82-9CF1-E7FB-A12A-6E718D60C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958" y="1047811"/>
            <a:ext cx="8715283" cy="5810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B3B84C-1717-57F2-42A4-907D6F49ACD6}"/>
              </a:ext>
            </a:extLst>
          </p:cNvPr>
          <p:cNvSpPr txBox="1"/>
          <p:nvPr/>
        </p:nvSpPr>
        <p:spPr>
          <a:xfrm>
            <a:off x="914402" y="248576"/>
            <a:ext cx="9810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>
                <a:highlight>
                  <a:srgbClr val="FFFF00"/>
                </a:highlight>
              </a:rPr>
              <a:t>Labeled</a:t>
            </a:r>
            <a:r>
              <a:rPr lang="en-IN" sz="2800" dirty="0">
                <a:highlight>
                  <a:srgbClr val="FFFF00"/>
                </a:highlight>
              </a:rPr>
              <a:t> Diagram of a Home Wi-Fi Router and Network Switch</a:t>
            </a:r>
          </a:p>
        </p:txBody>
      </p:sp>
    </p:spTree>
    <p:extLst>
      <p:ext uri="{BB962C8B-B14F-4D97-AF65-F5344CB8AC3E}">
        <p14:creationId xmlns:p14="http://schemas.microsoft.com/office/powerpoint/2010/main" val="1745914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78C669-F49E-90E3-10CD-FB48B1A69FD5}"/>
              </a:ext>
            </a:extLst>
          </p:cNvPr>
          <p:cNvSpPr txBox="1"/>
          <p:nvPr/>
        </p:nvSpPr>
        <p:spPr>
          <a:xfrm>
            <a:off x="392836" y="215646"/>
            <a:ext cx="117991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WAN Port:</a:t>
            </a:r>
            <a:r>
              <a:rPr lang="en-IN" dirty="0"/>
              <a:t> Connects the router to the incoming internet source (modem or ISP line).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LAN Ports (1–4):</a:t>
            </a:r>
            <a:r>
              <a:rPr lang="en-IN" dirty="0"/>
              <a:t> Used to connect local wired client devices (like desktop PCs or switches).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Console Port:</a:t>
            </a:r>
            <a:r>
              <a:rPr lang="en-IN" dirty="0"/>
              <a:t> Used by network administrators for direct CLI (Command Line Interface) configuration and troubleshooting.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Status LEDs:</a:t>
            </a:r>
            <a:r>
              <a:rPr lang="en-IN" dirty="0"/>
              <a:t> Indicate system power, Wi-Fi broadcast status, internet connectivity, and individual link/activity status for each port.</a:t>
            </a:r>
          </a:p>
        </p:txBody>
      </p:sp>
    </p:spTree>
    <p:extLst>
      <p:ext uri="{BB962C8B-B14F-4D97-AF65-F5344CB8AC3E}">
        <p14:creationId xmlns:p14="http://schemas.microsoft.com/office/powerpoint/2010/main" val="3886134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E5E178-A835-DA15-86A0-8E0835688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27657"/>
              </p:ext>
            </p:extLst>
          </p:nvPr>
        </p:nvGraphicFramePr>
        <p:xfrm>
          <a:off x="285565" y="705192"/>
          <a:ext cx="11620869" cy="58213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73623">
                  <a:extLst>
                    <a:ext uri="{9D8B030D-6E8A-4147-A177-3AD203B41FA5}">
                      <a16:colId xmlns:a16="http://schemas.microsoft.com/office/drawing/2014/main" val="466874529"/>
                    </a:ext>
                  </a:extLst>
                </a:gridCol>
                <a:gridCol w="3873623">
                  <a:extLst>
                    <a:ext uri="{9D8B030D-6E8A-4147-A177-3AD203B41FA5}">
                      <a16:colId xmlns:a16="http://schemas.microsoft.com/office/drawing/2014/main" val="2000297693"/>
                    </a:ext>
                  </a:extLst>
                </a:gridCol>
                <a:gridCol w="3873623">
                  <a:extLst>
                    <a:ext uri="{9D8B030D-6E8A-4147-A177-3AD203B41FA5}">
                      <a16:colId xmlns:a16="http://schemas.microsoft.com/office/drawing/2014/main" val="1832903630"/>
                    </a:ext>
                  </a:extLst>
                </a:gridCol>
              </a:tblGrid>
              <a:tr h="448339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highlight>
                            <a:srgbClr val="00FFFF"/>
                          </a:highlight>
                        </a:rPr>
                        <a:t>Feature / Criteria</a:t>
                      </a:r>
                      <a:endParaRPr lang="en-IN" sz="1600" dirty="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highlight>
                            <a:srgbClr val="00FFFF"/>
                          </a:highlight>
                        </a:rPr>
                        <a:t>Router</a:t>
                      </a:r>
                      <a:endParaRPr lang="en-IN" sz="1600" dirty="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highlight>
                            <a:srgbClr val="00FFFF"/>
                          </a:highlight>
                        </a:rPr>
                        <a:t>Switch</a:t>
                      </a:r>
                      <a:endParaRPr lang="en-IN" sz="160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extLst>
                  <a:ext uri="{0D108BD9-81ED-4DB2-BD59-A6C34878D82A}">
                    <a16:rowId xmlns:a16="http://schemas.microsoft.com/office/drawing/2014/main" val="2816289507"/>
                  </a:ext>
                </a:extLst>
              </a:tr>
              <a:tr h="168989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highlight>
                            <a:srgbClr val="00FFFF"/>
                          </a:highlight>
                        </a:rPr>
                        <a:t>1. OSI Layer &amp; Network Scope</a:t>
                      </a:r>
                      <a:endParaRPr lang="en-IN" sz="160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highlight>
                            <a:srgbClr val="00FFFF"/>
                          </a:highlight>
                        </a:rPr>
                        <a:t>Operates at Layer 3 (Network Layer). It connects distinct and separate networks together (e.g., connecting a home/office LAN to the wide-area Internet).</a:t>
                      </a:r>
                      <a:endParaRPr lang="en-IN" sz="1600" dirty="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highlight>
                            <a:srgbClr val="00FFFF"/>
                          </a:highlight>
                        </a:rPr>
                        <a:t>Operates at Layer 2 (Data Link Layer). It connects multiple devices together to form a single Local Area Network (LAN).</a:t>
                      </a:r>
                      <a:endParaRPr lang="en-IN" sz="1600" dirty="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extLst>
                  <a:ext uri="{0D108BD9-81ED-4DB2-BD59-A6C34878D82A}">
                    <a16:rowId xmlns:a16="http://schemas.microsoft.com/office/drawing/2014/main" val="3402473603"/>
                  </a:ext>
                </a:extLst>
              </a:tr>
              <a:tr h="168989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highlight>
                            <a:srgbClr val="00FFFF"/>
                          </a:highlight>
                        </a:rPr>
                        <a:t>2. Addressing &amp; Data Handling</a:t>
                      </a:r>
                      <a:endParaRPr lang="en-IN" sz="160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highlight>
                            <a:srgbClr val="00FFFF"/>
                          </a:highlight>
                        </a:rPr>
                        <a:t>Uses IP Addresses (Logical Addressing) to determine the best path to forward data packets across different networks.</a:t>
                      </a:r>
                      <a:endParaRPr lang="en-IN" sz="160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highlight>
                            <a:srgbClr val="00FFFF"/>
                          </a:highlight>
                        </a:rPr>
                        <a:t>Uses MAC Addresses (Physical Addressing) contained in data frames to forward traffic directly to the specific target port within the local network.</a:t>
                      </a:r>
                      <a:endParaRPr lang="en-IN" sz="1600" dirty="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extLst>
                  <a:ext uri="{0D108BD9-81ED-4DB2-BD59-A6C34878D82A}">
                    <a16:rowId xmlns:a16="http://schemas.microsoft.com/office/drawing/2014/main" val="685196660"/>
                  </a:ext>
                </a:extLst>
              </a:tr>
              <a:tr h="1993261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highlight>
                            <a:srgbClr val="00FFFF"/>
                          </a:highlight>
                        </a:rPr>
                        <a:t>3. Primary Function &amp; Traffic Flow</a:t>
                      </a:r>
                      <a:endParaRPr lang="en-IN" sz="160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highlight>
                            <a:srgbClr val="00FFFF"/>
                          </a:highlight>
                        </a:rPr>
                        <a:t>Acts as a traffic coordinator between different networks, providing Network Address Translation (NAT), DHCP services, and firewall security.</a:t>
                      </a:r>
                      <a:endParaRPr lang="en-IN" sz="160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highlight>
                            <a:srgbClr val="00FFFF"/>
                          </a:highlight>
                        </a:rPr>
                        <a:t>Acts as a high-speed internal bridge, routing data frames strictly between connected devices within the same network segment using unicast forwarding.</a:t>
                      </a:r>
                      <a:endParaRPr lang="en-IN" sz="1600" dirty="0">
                        <a:effectLst/>
                        <a:highlight>
                          <a:srgbClr val="00FFFF"/>
                        </a:highlight>
                        <a:latin typeface="Google Sans Text"/>
                      </a:endParaRPr>
                    </a:p>
                  </a:txBody>
                  <a:tcPr marL="81588" marR="81588" marT="54392" marB="54392" anchor="ctr"/>
                </a:tc>
                <a:extLst>
                  <a:ext uri="{0D108BD9-81ED-4DB2-BD59-A6C34878D82A}">
                    <a16:rowId xmlns:a16="http://schemas.microsoft.com/office/drawing/2014/main" val="20275857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14F8E18-6A10-E1BB-B8F9-EBBA741FEC06}"/>
              </a:ext>
            </a:extLst>
          </p:cNvPr>
          <p:cNvSpPr txBox="1"/>
          <p:nvPr/>
        </p:nvSpPr>
        <p:spPr>
          <a:xfrm>
            <a:off x="3278079" y="14675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800" b="1" dirty="0">
                <a:effectLst/>
                <a:latin typeface="+mn-lt"/>
              </a:rPr>
              <a:t>Key Differences Between Routers and Switches</a:t>
            </a:r>
            <a:endParaRPr lang="en-IN" sz="1800" b="1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291191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FD4CCB-D604-3C3F-E954-98871E25DBAE}"/>
              </a:ext>
            </a:extLst>
          </p:cNvPr>
          <p:cNvSpPr txBox="1"/>
          <p:nvPr/>
        </p:nvSpPr>
        <p:spPr>
          <a:xfrm>
            <a:off x="286305" y="116162"/>
            <a:ext cx="91447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Port and LED Identification (Router &amp; Switch Descriptions)</a:t>
            </a:r>
          </a:p>
          <a:p>
            <a:pPr>
              <a:buNone/>
            </a:pPr>
            <a:r>
              <a:rPr lang="en-IN" b="1" dirty="0"/>
              <a:t>1. Router 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Power Port (DC IN):</a:t>
            </a:r>
            <a:r>
              <a:rPr lang="en-IN" dirty="0"/>
              <a:t> A circular socket where the external 12V power adapter plugs in to supply electrical power to the device.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Ethernet Ports (WAN &amp; LAN):</a:t>
            </a:r>
            <a:r>
              <a:rPr lang="en-IN" dirty="0"/>
              <a:t> RJ-45 modular jack connectors. The WAN port receives broadband data, while LAN ports distribute local data signals over copper twisted-pair cables.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LED Indicators: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Power LED:</a:t>
            </a:r>
            <a:r>
              <a:rPr lang="en-IN" dirty="0"/>
              <a:t> Glows solid green or white to indicate the device is powered 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Internet/WAN LED:</a:t>
            </a:r>
            <a:r>
              <a:rPr lang="en-IN" dirty="0"/>
              <a:t> Blinks or turns solid when actively communicating with the ISP.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LAN LEDs:</a:t>
            </a:r>
            <a:r>
              <a:rPr lang="en-IN" dirty="0"/>
              <a:t> Flash rapidly when data is actively transmitting between connected wired devices.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485A6-0992-2A0E-98F0-457A82178BE7}"/>
              </a:ext>
            </a:extLst>
          </p:cNvPr>
          <p:cNvSpPr txBox="1"/>
          <p:nvPr/>
        </p:nvSpPr>
        <p:spPr>
          <a:xfrm>
            <a:off x="286305" y="3683233"/>
            <a:ext cx="865350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Switch 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Power Port:</a:t>
            </a:r>
            <a:r>
              <a:rPr lang="en-IN" dirty="0"/>
              <a:t> Standard AC socket or DC barrel jack depending on whether it is an unmanaged desktop switch or a rack-mounted enterprise switch.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Ethernet Ports:</a:t>
            </a:r>
            <a:r>
              <a:rPr lang="en-IN" dirty="0"/>
              <a:t> Multiple RJ-45 female ports arranged in a row (e.g., 5, 8, or 24 ports) to plug in network cables from computers, printers, and routers.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LED Indicators: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Power LED:</a:t>
            </a:r>
            <a:r>
              <a:rPr lang="en-IN" dirty="0"/>
              <a:t> Indicates active power supply to the switch logic board.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Link/Activity (LNK/ACT) LEDs:</a:t>
            </a:r>
            <a:r>
              <a:rPr lang="en-IN" dirty="0"/>
              <a:t> Each port has a dedicated LED that lights up when a cable is securely plugged in and flashes whenever data packets pass through that specific port.</a:t>
            </a:r>
          </a:p>
        </p:txBody>
      </p:sp>
    </p:spTree>
    <p:extLst>
      <p:ext uri="{BB962C8B-B14F-4D97-AF65-F5344CB8AC3E}">
        <p14:creationId xmlns:p14="http://schemas.microsoft.com/office/powerpoint/2010/main" val="2060247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A1A36-9C5E-9889-9961-73FC053CB411}"/>
              </a:ext>
            </a:extLst>
          </p:cNvPr>
          <p:cNvSpPr txBox="1"/>
          <p:nvPr/>
        </p:nvSpPr>
        <p:spPr>
          <a:xfrm>
            <a:off x="517123" y="474345"/>
            <a:ext cx="11316811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highlight>
                  <a:srgbClr val="FF00FF"/>
                </a:highlight>
              </a:rPr>
              <a:t>Gaming Cafe Network Setup Scenario (IPL Streaming &amp; Multiplayer)</a:t>
            </a:r>
          </a:p>
          <a:p>
            <a:pPr>
              <a:buNone/>
            </a:pP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Device Connection Order</a:t>
            </a:r>
          </a:p>
          <a:p>
            <a:pPr>
              <a:buNone/>
            </a:pPr>
            <a:endParaRPr lang="en-IN" b="1" i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Connect the Router First: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 The incoming ISP line (</a:t>
            </a:r>
            <a:r>
              <a:rPr lang="en-IN" i="1" dirty="0" err="1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fiber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/broadband) must connect directly to the </a:t>
            </a: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WAN port of the Router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.</a:t>
            </a:r>
          </a:p>
          <a:p>
            <a:pPr lvl="1"/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Justification: The router acts as the primary gateway. It handles public-to-private IP translation via </a:t>
            </a: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NAT (Network Address Translation)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, runs the DHCP server to assign local IP addresses, and provides essential firewall protection against external threats.</a:t>
            </a:r>
          </a:p>
          <a:p>
            <a:pPr marL="742950" lvl="1" indent="-285750">
              <a:buFont typeface="+mj-lt"/>
              <a:buAutoNum type="arabicPeriod"/>
            </a:pPr>
            <a:endParaRPr lang="en-IN" i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pPr>
              <a:buNone/>
            </a:pP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Connecting the 8 Gaming PCs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Run an Ethernet cable from one of the </a:t>
            </a: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LAN ports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 on the Router to an uplink port on an </a:t>
            </a: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8-port (or higher) Gigabit Network Switch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Connect each of the </a:t>
            </a: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8 gaming PCs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 using high-quality Cat6 Ethernet cables directly into the individual RJ-45 ports on the Network Switch.</a:t>
            </a:r>
          </a:p>
          <a:p>
            <a:pPr>
              <a:buNone/>
            </a:pP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Comprehensive Justification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Bandwidth &amp; Latency Control: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 Multiplayer competitive gaming and live 4K IPL streaming require ultra-low latency and zero packet loss. Wi-Fi is susceptible to interference and congestion, making wired Ethernet via a switch essential.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Port Expansion: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 A standard consumer or small business router typically only features 4 LAN ports. Introducing a network switch expands the available wired ports effortlessly to accommodate all 8 gaming PCs plus any auxiliary streaming or billing terminals without bottlenecks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9277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723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Google Sans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 shrimali</dc:creator>
  <cp:lastModifiedBy>Mayur shrimali</cp:lastModifiedBy>
  <cp:revision>1</cp:revision>
  <dcterms:created xsi:type="dcterms:W3CDTF">2026-10-27T02:42:06Z</dcterms:created>
  <dcterms:modified xsi:type="dcterms:W3CDTF">2026-10-27T03:12:13Z</dcterms:modified>
</cp:coreProperties>
</file>