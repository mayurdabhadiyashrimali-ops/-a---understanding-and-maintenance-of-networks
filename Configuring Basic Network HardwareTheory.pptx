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D9965-E50B-62FF-A224-E1D852FF3C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D6ED6C-9530-EEA8-2D91-7C20131E3B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2D6D4-081C-972B-854F-769CA3FF4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93E94-28E5-4496-B124-964F720A8FD5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95296-9DC8-3F00-01EE-7DE0A003B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0476C-D2DC-8476-0A08-41896D032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C3262-F507-4981-9DF3-EA536AFEB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30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2BC23-B230-62AE-82F5-D20F4B03E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64DDB-67CB-DB88-3406-6BCE53220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07396-4B1B-F4B0-5CB9-D1D639ABD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93E94-28E5-4496-B124-964F720A8FD5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14437-DA0E-5377-D962-497203690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30C47-6E8E-78A4-513E-A21A51F76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C3262-F507-4981-9DF3-EA536AFEB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467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8CDB-692E-9BFB-DFE5-D432AE11B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5B70E-FFF5-AA5F-8C8C-A01F09C25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6FB7B-47EC-E124-139D-AF13833B3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93E94-28E5-4496-B124-964F720A8FD5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746CB-AD02-B088-B393-816F2C08F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571F4-E645-5DF1-E293-E415E075E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C3262-F507-4981-9DF3-EA536AFEB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251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59945-279F-F5D7-B04E-04CFADC5E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18472-E52D-A3A2-0968-ADDC397BDC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89D330-4E8B-0131-B2F8-2661D9E3EE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D88380-50BE-532E-1C36-7D6098F68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93E94-28E5-4496-B124-964F720A8FD5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4B85F-940C-7743-89BD-6452CFBE6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36141F-6163-8E8A-CD11-6ADAF0948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C3262-F507-4981-9DF3-EA536AFEB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8837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BE352-06BD-C116-0E44-EF3C35966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C04D3-4A09-03C5-0FA5-7A27E4B32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798C8-53EB-593C-1184-E700910AE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D659B1-44B1-958D-12D7-14C94D1837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6FB94F-2C0F-C1C7-8DBC-D665CE18CE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1AD285-E704-B14A-60B2-B6AF6916E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93E94-28E5-4496-B124-964F720A8FD5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0331DB-0E9B-458A-FA6A-6D1595BE0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23D7B9-8FBB-F170-41F1-9CACA2CD4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C3262-F507-4981-9DF3-EA536AFEB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2726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AED37-8C97-06BD-1FAA-F58D1B588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91ED20-4D1D-CC26-FA57-DEAEDF2EE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93E94-28E5-4496-B124-964F720A8FD5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C7CC3A-DFD6-1C59-8311-D9218F1E7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9CE9A4-00C3-C520-B4A6-13176752B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C3262-F507-4981-9DF3-EA536AFEB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707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DDFBA7-2EA7-0DB7-606E-05AF3A679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93E94-28E5-4496-B124-964F720A8FD5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DBC0F6-86DE-C3ED-48AC-9054B1C1D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8E4D2-D075-EF62-D8D9-8B1976296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C3262-F507-4981-9DF3-EA536AFEB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48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6957D-DBFD-AA4C-0E0A-F56C608FE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8EA66-B562-9257-47B9-2982812FA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CBA18D-337E-EDD8-D5E8-3C60A1194E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69FEE-A432-91A8-A37A-1C25B4B0B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93E94-28E5-4496-B124-964F720A8FD5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A7CE93-1134-95CF-BF23-28B3934E0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5C0425-FE3A-97F7-955E-6BA1FE0A5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C3262-F507-4981-9DF3-EA536AFEB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6511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0801B-C593-36B9-2C7E-6E9D943B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24DAA0-7BB9-D143-5B99-3C12184A20A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0D2BE4-682E-C0E1-0E10-D771A6C29C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EFA177-879B-068B-9BCE-83CAA12B3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93E94-28E5-4496-B124-964F720A8FD5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A15FBF-CDA3-F37B-742C-457AF6C9B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1A167-3F4F-C924-A705-3B59B794D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C3262-F507-4981-9DF3-EA536AFEB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11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4A7BF-9628-66B1-D1DE-846709F00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C27FA8-922D-18E9-B8F1-47BC722C4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BD640-F2B6-D66C-10CD-422501F06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93E94-28E5-4496-B124-964F720A8FD5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286D0-38F8-C418-4818-022590201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A469B-1D8F-7244-E32A-FEA942362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C3262-F507-4981-9DF3-EA536AFEB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385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CD722-ADB1-F48C-7A25-A080041105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89EC74-4A93-5120-9427-B52FB351EC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0F676-B76E-02DD-E414-34F8721DF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93E94-28E5-4496-B124-964F720A8FD5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BE91F-A01A-29E5-F538-070F029B5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AB20C-647F-4D82-8678-6339E8E67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C3262-F507-4981-9DF3-EA536AFEB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154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2C1604-82B0-763E-4483-7C0B7DA8D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EEA75D-6CC3-1C12-7159-D1A7ACBB5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3849F-F096-8414-F6E7-7E3188C1EF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993E94-28E5-4496-B124-964F720A8FD5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5F256-3459-281C-A67B-2883BB7643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2DFAD-A096-0D4E-DCAE-BC4DAA2381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5C3262-F507-4981-9DF3-EA536AFEB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189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009616-7B3A-072C-DBA4-641099A079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" t="6715" r="511" b="6352"/>
          <a:stretch>
            <a:fillRect/>
          </a:stretch>
        </p:blipFill>
        <p:spPr>
          <a:xfrm>
            <a:off x="1153160" y="1259841"/>
            <a:ext cx="9885680" cy="48666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8CD3FD-4EB2-A2E6-A4C4-58FF16431826}"/>
              </a:ext>
            </a:extLst>
          </p:cNvPr>
          <p:cNvSpPr txBox="1"/>
          <p:nvPr/>
        </p:nvSpPr>
        <p:spPr>
          <a:xfrm>
            <a:off x="3108960" y="299687"/>
            <a:ext cx="7284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u="sng" dirty="0">
                <a:highlight>
                  <a:srgbClr val="FFFF00"/>
                </a:highlight>
              </a:rPr>
              <a:t>A</a:t>
            </a:r>
            <a:r>
              <a:rPr lang="en-IN" sz="3600" b="1" i="0" u="sng" dirty="0">
                <a:effectLst/>
                <a:highlight>
                  <a:srgbClr val="FFFF00"/>
                </a:highlight>
                <a:latin typeface="+mn-lt"/>
              </a:rPr>
              <a:t> </a:t>
            </a:r>
            <a:r>
              <a:rPr lang="en-IN" sz="3600" b="1" u="sng" dirty="0">
                <a:highlight>
                  <a:srgbClr val="FFFF00"/>
                </a:highlight>
              </a:rPr>
              <a:t>S</a:t>
            </a:r>
            <a:r>
              <a:rPr lang="en-IN" sz="3600" b="1" i="0" u="sng" dirty="0">
                <a:effectLst/>
                <a:highlight>
                  <a:srgbClr val="FFFF00"/>
                </a:highlight>
                <a:latin typeface="+mn-lt"/>
              </a:rPr>
              <a:t>creenshot </a:t>
            </a:r>
            <a:r>
              <a:rPr lang="en-IN" sz="3600" b="1" u="sng" dirty="0">
                <a:highlight>
                  <a:srgbClr val="FFFF00"/>
                </a:highlight>
              </a:rPr>
              <a:t>O</a:t>
            </a:r>
            <a:r>
              <a:rPr lang="en-IN" sz="3600" b="1" i="0" u="sng" dirty="0">
                <a:effectLst/>
                <a:highlight>
                  <a:srgbClr val="FFFF00"/>
                </a:highlight>
                <a:latin typeface="+mn-lt"/>
              </a:rPr>
              <a:t>f </a:t>
            </a:r>
            <a:r>
              <a:rPr lang="en-IN" sz="3600" b="1" u="sng" dirty="0">
                <a:highlight>
                  <a:srgbClr val="FFFF00"/>
                </a:highlight>
              </a:rPr>
              <a:t>T</a:t>
            </a:r>
            <a:r>
              <a:rPr lang="en-IN" sz="3600" b="1" i="0" u="sng" dirty="0">
                <a:effectLst/>
                <a:highlight>
                  <a:srgbClr val="FFFF00"/>
                </a:highlight>
                <a:latin typeface="+mn-lt"/>
              </a:rPr>
              <a:t>he </a:t>
            </a:r>
            <a:r>
              <a:rPr lang="en-IN" sz="3600" b="1" u="sng" dirty="0">
                <a:highlight>
                  <a:srgbClr val="FFFF00"/>
                </a:highlight>
              </a:rPr>
              <a:t>L</a:t>
            </a:r>
            <a:r>
              <a:rPr lang="en-IN" sz="3600" b="1" i="0" u="sng" dirty="0">
                <a:effectLst/>
                <a:highlight>
                  <a:srgbClr val="FFFF00"/>
                </a:highlight>
                <a:latin typeface="+mn-lt"/>
              </a:rPr>
              <a:t>ogin </a:t>
            </a:r>
            <a:r>
              <a:rPr lang="en-IN" sz="3600" b="1" u="sng" dirty="0">
                <a:highlight>
                  <a:srgbClr val="FFFF00"/>
                </a:highlight>
              </a:rPr>
              <a:t>P</a:t>
            </a:r>
            <a:r>
              <a:rPr lang="en-IN" sz="3600" b="1" i="0" u="sng" dirty="0">
                <a:effectLst/>
                <a:highlight>
                  <a:srgbClr val="FFFF00"/>
                </a:highlight>
                <a:latin typeface="+mn-lt"/>
              </a:rPr>
              <a:t>age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677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49501E-ACAD-27A7-8F10-B455339AA19A}"/>
              </a:ext>
            </a:extLst>
          </p:cNvPr>
          <p:cNvSpPr txBox="1"/>
          <p:nvPr/>
        </p:nvSpPr>
        <p:spPr>
          <a:xfrm>
            <a:off x="142240" y="1060440"/>
            <a:ext cx="98552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  <a:highlight>
                  <a:srgbClr val="008080"/>
                </a:highlight>
              </a:rPr>
              <a:t> Connection-specific DNS Suffix  . :</a:t>
            </a:r>
          </a:p>
          <a:p>
            <a:endParaRPr lang="en-IN" sz="2400" b="1" dirty="0">
              <a:solidFill>
                <a:srgbClr val="FFFF00"/>
              </a:solidFill>
              <a:highlight>
                <a:srgbClr val="008080"/>
              </a:highlight>
            </a:endParaRPr>
          </a:p>
          <a:p>
            <a:r>
              <a:rPr lang="en-IN" sz="2400" b="1" dirty="0">
                <a:solidFill>
                  <a:srgbClr val="FFFF00"/>
                </a:solidFill>
                <a:highlight>
                  <a:srgbClr val="008080"/>
                </a:highlight>
              </a:rPr>
              <a:t>   IPv6 Address.:2401:4900:88b7:19ad:ab4e:5aa2:9df0:6907</a:t>
            </a:r>
          </a:p>
          <a:p>
            <a:endParaRPr lang="en-IN" sz="2400" b="1" dirty="0">
              <a:solidFill>
                <a:srgbClr val="FFFF00"/>
              </a:solidFill>
              <a:highlight>
                <a:srgbClr val="008080"/>
              </a:highlight>
            </a:endParaRPr>
          </a:p>
          <a:p>
            <a:r>
              <a:rPr lang="en-IN" sz="2400" b="1" dirty="0">
                <a:solidFill>
                  <a:srgbClr val="FFFF00"/>
                </a:solidFill>
                <a:highlight>
                  <a:srgbClr val="008080"/>
                </a:highlight>
              </a:rPr>
              <a:t>   Temporary IPv6 Address.:2401:4900:88b7:19ad:896:15e4:5d72:c28b</a:t>
            </a:r>
          </a:p>
          <a:p>
            <a:endParaRPr lang="en-IN" sz="2400" b="1" dirty="0">
              <a:solidFill>
                <a:srgbClr val="FFFF00"/>
              </a:solidFill>
              <a:highlight>
                <a:srgbClr val="008080"/>
              </a:highlight>
            </a:endParaRPr>
          </a:p>
          <a:p>
            <a:r>
              <a:rPr lang="en-IN" sz="2400" b="1" dirty="0">
                <a:solidFill>
                  <a:srgbClr val="FFFF00"/>
                </a:solidFill>
                <a:highlight>
                  <a:srgbClr val="008080"/>
                </a:highlight>
              </a:rPr>
              <a:t>   Link-local IPv6 Address . . . . . : fe80::aba6:cc50:2ffa:d05e%16</a:t>
            </a:r>
          </a:p>
          <a:p>
            <a:endParaRPr lang="en-IN" sz="2400" b="1" dirty="0">
              <a:solidFill>
                <a:srgbClr val="FFFF00"/>
              </a:solidFill>
              <a:highlight>
                <a:srgbClr val="008080"/>
              </a:highlight>
            </a:endParaRPr>
          </a:p>
          <a:p>
            <a:r>
              <a:rPr lang="en-IN" sz="2400" b="1" dirty="0">
                <a:solidFill>
                  <a:srgbClr val="FFFF00"/>
                </a:solidFill>
                <a:highlight>
                  <a:srgbClr val="008080"/>
                </a:highlight>
              </a:rPr>
              <a:t>   IPv4 Address : 192.168.1.7</a:t>
            </a:r>
          </a:p>
          <a:p>
            <a:endParaRPr lang="en-IN" sz="2400" b="1" dirty="0">
              <a:solidFill>
                <a:srgbClr val="FFFF00"/>
              </a:solidFill>
              <a:highlight>
                <a:srgbClr val="008080"/>
              </a:highlight>
            </a:endParaRPr>
          </a:p>
          <a:p>
            <a:r>
              <a:rPr lang="en-IN" sz="2400" b="1" dirty="0">
                <a:solidFill>
                  <a:srgbClr val="FFFF00"/>
                </a:solidFill>
                <a:highlight>
                  <a:srgbClr val="008080"/>
                </a:highlight>
              </a:rPr>
              <a:t>   Subnet Mask  : 255.255.255.0</a:t>
            </a:r>
          </a:p>
          <a:p>
            <a:endParaRPr lang="en-IN" sz="2400" b="1" dirty="0">
              <a:solidFill>
                <a:srgbClr val="FFFF00"/>
              </a:solidFill>
              <a:highlight>
                <a:srgbClr val="008080"/>
              </a:highlight>
            </a:endParaRPr>
          </a:p>
          <a:p>
            <a:r>
              <a:rPr lang="en-IN" sz="2400" b="1" dirty="0">
                <a:solidFill>
                  <a:srgbClr val="FFFF00"/>
                </a:solidFill>
                <a:highlight>
                  <a:srgbClr val="008080"/>
                </a:highlight>
              </a:rPr>
              <a:t>   Default Gateway : fe80::3215:77ff:fe4b:9e64%16</a:t>
            </a:r>
          </a:p>
          <a:p>
            <a:r>
              <a:rPr lang="en-IN" sz="2400" b="1" dirty="0">
                <a:solidFill>
                  <a:srgbClr val="FFFF00"/>
                </a:solidFill>
                <a:highlight>
                  <a:srgbClr val="008080"/>
                </a:highlight>
              </a:rPr>
              <a:t>                                       192.168.1.1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9D4A42-6E20-499A-BC40-648667BB4F82}"/>
              </a:ext>
            </a:extLst>
          </p:cNvPr>
          <p:cNvSpPr txBox="1"/>
          <p:nvPr/>
        </p:nvSpPr>
        <p:spPr>
          <a:xfrm>
            <a:off x="0" y="334526"/>
            <a:ext cx="899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 </a:t>
            </a:r>
            <a:r>
              <a:rPr lang="en-IN" sz="2000" b="1" i="0" dirty="0">
                <a:solidFill>
                  <a:schemeClr val="tx1"/>
                </a:solidFill>
                <a:effectLst/>
                <a:latin typeface="+mn-lt"/>
              </a:rPr>
              <a:t>the current IP address, subnet mask, and default gateway assigned: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557255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F680AA-9B20-BEB7-0C39-065CF8F0E12E}"/>
              </a:ext>
            </a:extLst>
          </p:cNvPr>
          <p:cNvSpPr txBox="1"/>
          <p:nvPr/>
        </p:nvSpPr>
        <p:spPr>
          <a:xfrm>
            <a:off x="465328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Static IP Set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A42D106-E838-DF1A-CD42-6F619CF8EC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14" t="18219" r="8679" b="5668"/>
          <a:stretch>
            <a:fillRect/>
          </a:stretch>
        </p:blipFill>
        <p:spPr>
          <a:xfrm>
            <a:off x="0" y="426680"/>
            <a:ext cx="5140960" cy="292612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24247C1-4FCE-F192-BB78-EEAACED0E8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00" t="19556" r="9833" b="11111"/>
          <a:stretch>
            <a:fillRect/>
          </a:stretch>
        </p:blipFill>
        <p:spPr>
          <a:xfrm>
            <a:off x="6330526" y="523220"/>
            <a:ext cx="4708031" cy="250952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3D11770-0E24-AC17-93B7-41A867EF65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61" t="19134" r="4265" b="8303"/>
          <a:stretch>
            <a:fillRect/>
          </a:stretch>
        </p:blipFill>
        <p:spPr>
          <a:xfrm>
            <a:off x="135173" y="3728720"/>
            <a:ext cx="5005787" cy="258064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E49D241-C276-C442-1A25-F96FC8C53C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51" t="19133" r="8732" b="7400"/>
          <a:stretch>
            <a:fillRect/>
          </a:stretch>
        </p:blipFill>
        <p:spPr>
          <a:xfrm>
            <a:off x="6330526" y="3530540"/>
            <a:ext cx="4970418" cy="27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232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BE2A36-0C94-430A-6036-9973D2A109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66" t="17778" r="9333" b="13185"/>
          <a:stretch>
            <a:fillRect/>
          </a:stretch>
        </p:blipFill>
        <p:spPr>
          <a:xfrm>
            <a:off x="1046480" y="609600"/>
            <a:ext cx="4480560" cy="23672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56038B-7419-9726-BB3F-313DBDFDBE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17" t="19407" r="9500" b="12148"/>
          <a:stretch>
            <a:fillRect/>
          </a:stretch>
        </p:blipFill>
        <p:spPr>
          <a:xfrm>
            <a:off x="6289040" y="3429000"/>
            <a:ext cx="5669280" cy="2986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635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7A4F38-B72F-D317-BD0D-BB770139249C}"/>
              </a:ext>
            </a:extLst>
          </p:cNvPr>
          <p:cNvSpPr txBox="1"/>
          <p:nvPr/>
        </p:nvSpPr>
        <p:spPr>
          <a:xfrm>
            <a:off x="1127760" y="670560"/>
            <a:ext cx="861568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en-IN" sz="2800" b="1" dirty="0"/>
              <a:t>Current DHCP Range:</a:t>
            </a:r>
            <a:r>
              <a:rPr lang="en-IN" sz="2800" dirty="0"/>
              <a:t> </a:t>
            </a:r>
            <a:r>
              <a:rPr lang="en-IN" sz="2800" dirty="0">
                <a:latin typeface="+mn-lt"/>
              </a:rPr>
              <a:t>192.168.1.100</a:t>
            </a:r>
            <a:r>
              <a:rPr lang="en-IN" sz="2800" dirty="0"/>
              <a:t> to </a:t>
            </a:r>
            <a:r>
              <a:rPr lang="en-IN" sz="2800" dirty="0">
                <a:latin typeface="+mn-lt"/>
              </a:rPr>
              <a:t>192.168.1.200</a:t>
            </a:r>
            <a:r>
              <a:rPr lang="en-IN" sz="2800" dirty="0"/>
              <a:t> </a:t>
            </a:r>
            <a:r>
              <a:rPr lang="en-IN" sz="2800" i="1" dirty="0"/>
              <a:t>(This is the standard default DHCP pool range configured in most home Wi-Fi routers under the LAN / DHCP Server settings)</a:t>
            </a:r>
            <a:r>
              <a:rPr lang="en-IN" sz="2800" dirty="0"/>
              <a:t>.</a:t>
            </a:r>
          </a:p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en-IN" sz="2800" b="1" dirty="0"/>
              <a:t>Explanation of IP Conflict:</a:t>
            </a:r>
            <a:r>
              <a:rPr lang="en-IN" sz="2800" dirty="0"/>
              <a:t> If two devices on the same network are assigned the exact same IP address, an </a:t>
            </a:r>
            <a:r>
              <a:rPr lang="en-IN" sz="2800" b="1" dirty="0"/>
              <a:t>IP Address Conflict</a:t>
            </a:r>
            <a:r>
              <a:rPr lang="en-IN" sz="2800" dirty="0"/>
              <a:t> occurs. This confuses the router regarding which device should receive incoming data packets, causing frequent network drops, connection instability, or a complete loss of internet access for both affected devices.</a:t>
            </a:r>
          </a:p>
        </p:txBody>
      </p:sp>
    </p:spTree>
    <p:extLst>
      <p:ext uri="{BB962C8B-B14F-4D97-AF65-F5344CB8AC3E}">
        <p14:creationId xmlns:p14="http://schemas.microsoft.com/office/powerpoint/2010/main" val="572293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180</Words>
  <Application>Microsoft Office PowerPoint</Application>
  <PresentationFormat>Widescreen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Mayur shrimali</dc:creator>
  <cp:lastModifiedBy>Mayur shrimali</cp:lastModifiedBy>
  <cp:revision>1</cp:revision>
  <dcterms:created xsi:type="dcterms:W3CDTF">2026-10-27T03:30:02Z</dcterms:created>
  <dcterms:modified xsi:type="dcterms:W3CDTF">2026-10-27T05:46:51Z</dcterms:modified>
</cp:coreProperties>
</file>