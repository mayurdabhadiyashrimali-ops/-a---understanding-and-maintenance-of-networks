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6" d="100"/>
          <a:sy n="86" d="100"/>
        </p:scale>
        <p:origin x="13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3A5DAC-E317-416D-96F6-AE13CBAB8FE8}" type="datetimeFigureOut">
              <a:rPr lang="en-IN" smtClean="0"/>
              <a:t>27-10-2026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284474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A5DAC-E317-416D-96F6-AE13CBAB8FE8}" type="datetimeFigureOut">
              <a:rPr lang="en-IN" smtClean="0"/>
              <a:t>27-10-2026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253473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3A5DAC-E317-416D-96F6-AE13CBAB8FE8}" type="datetimeFigureOut">
              <a:rPr lang="en-IN" smtClean="0"/>
              <a:t>27-10-2026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407682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3A5DAC-E317-416D-96F6-AE13CBAB8FE8}" type="datetimeFigureOut">
              <a:rPr lang="en-IN" smtClean="0"/>
              <a:t>27-10-2026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404722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3A5DAC-E317-416D-96F6-AE13CBAB8FE8}" type="datetimeFigureOut">
              <a:rPr lang="en-IN" smtClean="0"/>
              <a:t>27-10-2026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817601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3A5DAC-E317-416D-96F6-AE13CBAB8FE8}" type="datetimeFigureOut">
              <a:rPr lang="en-IN" smtClean="0"/>
              <a:t>27-10-2026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191739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3A5DAC-E317-416D-96F6-AE13CBAB8FE8}" type="datetimeFigureOut">
              <a:rPr lang="en-IN" smtClean="0"/>
              <a:t>27-10-2026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559426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3A5DAC-E317-416D-96F6-AE13CBAB8FE8}" type="datetimeFigureOut">
              <a:rPr lang="en-IN" smtClean="0"/>
              <a:t>27-10-2026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829590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3A5DAC-E317-416D-96F6-AE13CBAB8FE8}" type="datetimeFigureOut">
              <a:rPr lang="en-IN" smtClean="0"/>
              <a:t>27-10-2026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102996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A5DAC-E317-416D-96F6-AE13CBAB8FE8}" type="datetimeFigureOut">
              <a:rPr lang="en-IN" smtClean="0"/>
              <a:t>27-10-2026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2799164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A5DAC-E317-416D-96F6-AE13CBAB8FE8}" type="datetimeFigureOut">
              <a:rPr lang="en-IN" smtClean="0"/>
              <a:t>27-10-2026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AA3101-10DF-4267-9759-7085E21D37B1}" type="slidenum">
              <a:rPr lang="en-IN" smtClean="0"/>
              <a:t>‹#›</a:t>
            </a:fld>
            <a:endParaRPr lang="en-IN"/>
          </a:p>
        </p:txBody>
      </p:sp>
    </p:spTree>
    <p:extLst>
      <p:ext uri="{BB962C8B-B14F-4D97-AF65-F5344CB8AC3E}">
        <p14:creationId xmlns:p14="http://schemas.microsoft.com/office/powerpoint/2010/main" val="280594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3A5DAC-E317-416D-96F6-AE13CBAB8FE8}" type="datetimeFigureOut">
              <a:rPr lang="en-IN" smtClean="0"/>
              <a:t>27-10-2026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AA3101-10DF-4267-9759-7085E21D37B1}" type="slidenum">
              <a:rPr lang="en-IN" smtClean="0"/>
              <a:t>‹#›</a:t>
            </a:fld>
            <a:endParaRPr lang="en-IN"/>
          </a:p>
        </p:txBody>
      </p:sp>
    </p:spTree>
    <p:extLst>
      <p:ext uri="{BB962C8B-B14F-4D97-AF65-F5344CB8AC3E}">
        <p14:creationId xmlns:p14="http://schemas.microsoft.com/office/powerpoint/2010/main" val="3574052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9C5850D-9A89-E8C4-4764-C46A610D8696}"/>
              </a:ext>
            </a:extLst>
          </p:cNvPr>
          <p:cNvGraphicFramePr>
            <a:graphicFrameLocks noGrp="1"/>
          </p:cNvGraphicFramePr>
          <p:nvPr>
            <p:extLst>
              <p:ext uri="{D42A27DB-BD31-4B8C-83A1-F6EECF244321}">
                <p14:modId xmlns:p14="http://schemas.microsoft.com/office/powerpoint/2010/main" val="3611540903"/>
              </p:ext>
            </p:extLst>
          </p:nvPr>
        </p:nvGraphicFramePr>
        <p:xfrm>
          <a:off x="1561549" y="1051375"/>
          <a:ext cx="6020901" cy="4426144"/>
        </p:xfrm>
        <a:graphic>
          <a:graphicData uri="http://schemas.openxmlformats.org/drawingml/2006/table">
            <a:tbl>
              <a:tblPr>
                <a:tableStyleId>{5C22544A-7EE6-4342-B048-85BDC9FD1C3A}</a:tableStyleId>
              </a:tblPr>
              <a:tblGrid>
                <a:gridCol w="2006967">
                  <a:extLst>
                    <a:ext uri="{9D8B030D-6E8A-4147-A177-3AD203B41FA5}">
                      <a16:colId xmlns:a16="http://schemas.microsoft.com/office/drawing/2014/main" val="3112588693"/>
                    </a:ext>
                  </a:extLst>
                </a:gridCol>
                <a:gridCol w="2006967">
                  <a:extLst>
                    <a:ext uri="{9D8B030D-6E8A-4147-A177-3AD203B41FA5}">
                      <a16:colId xmlns:a16="http://schemas.microsoft.com/office/drawing/2014/main" val="3530471395"/>
                    </a:ext>
                  </a:extLst>
                </a:gridCol>
                <a:gridCol w="2006967">
                  <a:extLst>
                    <a:ext uri="{9D8B030D-6E8A-4147-A177-3AD203B41FA5}">
                      <a16:colId xmlns:a16="http://schemas.microsoft.com/office/drawing/2014/main" val="2259899273"/>
                    </a:ext>
                  </a:extLst>
                </a:gridCol>
              </a:tblGrid>
              <a:tr h="511922">
                <a:tc>
                  <a:txBody>
                    <a:bodyPr/>
                    <a:lstStyle/>
                    <a:p>
                      <a:pPr marL="0" marR="0">
                        <a:spcAft>
                          <a:spcPts val="2400"/>
                        </a:spcAft>
                        <a:buNone/>
                      </a:pPr>
                      <a:r>
                        <a:rPr lang="en-IN" sz="1400">
                          <a:effectLst/>
                        </a:rPr>
                        <a:t>Feature / Criteria</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Ethernet Cable (Twisted-Pair Copper)</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Fiber Optic Cable</a:t>
                      </a:r>
                      <a:endParaRPr lang="en-IN" sz="1400">
                        <a:effectLst/>
                        <a:latin typeface="Google Sans Text"/>
                      </a:endParaRPr>
                    </a:p>
                  </a:txBody>
                  <a:tcPr marL="69808" marR="69808" marT="46538" marB="46538" anchor="ctr"/>
                </a:tc>
                <a:extLst>
                  <a:ext uri="{0D108BD9-81ED-4DB2-BD59-A6C34878D82A}">
                    <a16:rowId xmlns:a16="http://schemas.microsoft.com/office/drawing/2014/main" val="3030681414"/>
                  </a:ext>
                </a:extLst>
              </a:tr>
              <a:tr h="930767">
                <a:tc>
                  <a:txBody>
                    <a:bodyPr/>
                    <a:lstStyle/>
                    <a:p>
                      <a:pPr marL="0" marR="0">
                        <a:spcAft>
                          <a:spcPts val="2400"/>
                        </a:spcAft>
                        <a:buNone/>
                      </a:pPr>
                      <a:r>
                        <a:rPr lang="en-IN" sz="1400">
                          <a:effectLst/>
                        </a:rPr>
                        <a:t>1. Transmission Medium</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Transmits data using electrical signals traveling through copper wires. </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Transmits data using pulses of light traveling through thin glass or plastic strands. </a:t>
                      </a:r>
                      <a:endParaRPr lang="en-IN" sz="1400">
                        <a:effectLst/>
                        <a:latin typeface="Google Sans Text"/>
                      </a:endParaRPr>
                    </a:p>
                  </a:txBody>
                  <a:tcPr marL="69808" marR="69808" marT="46538" marB="46538" anchor="ctr"/>
                </a:tc>
                <a:extLst>
                  <a:ext uri="{0D108BD9-81ED-4DB2-BD59-A6C34878D82A}">
                    <a16:rowId xmlns:a16="http://schemas.microsoft.com/office/drawing/2014/main" val="3070473850"/>
                  </a:ext>
                </a:extLst>
              </a:tr>
              <a:tr h="1349613">
                <a:tc>
                  <a:txBody>
                    <a:bodyPr/>
                    <a:lstStyle/>
                    <a:p>
                      <a:pPr marL="0" marR="0">
                        <a:spcAft>
                          <a:spcPts val="2400"/>
                        </a:spcAft>
                        <a:buNone/>
                      </a:pPr>
                      <a:r>
                        <a:rPr lang="en-IN" sz="1400">
                          <a:effectLst/>
                        </a:rPr>
                        <a:t>2. Speed &amp; Bandwidth</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Supports standard LAN speeds (e.g., 1 Gbps to 10 Gbps for Cat6/Cat6a) over shorter ranges. </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Supports massive bandwidth capabilities reaching hundreds of gigabits or terabits per second over long distances. </a:t>
                      </a:r>
                      <a:endParaRPr lang="en-IN" sz="1400">
                        <a:effectLst/>
                        <a:latin typeface="Google Sans Text"/>
                      </a:endParaRPr>
                    </a:p>
                  </a:txBody>
                  <a:tcPr marL="69808" marR="69808" marT="46538" marB="46538" anchor="ctr"/>
                </a:tc>
                <a:extLst>
                  <a:ext uri="{0D108BD9-81ED-4DB2-BD59-A6C34878D82A}">
                    <a16:rowId xmlns:a16="http://schemas.microsoft.com/office/drawing/2014/main" val="3223636882"/>
                  </a:ext>
                </a:extLst>
              </a:tr>
              <a:tr h="1559036">
                <a:tc>
                  <a:txBody>
                    <a:bodyPr/>
                    <a:lstStyle/>
                    <a:p>
                      <a:pPr marL="0" marR="0">
                        <a:spcAft>
                          <a:spcPts val="2400"/>
                        </a:spcAft>
                        <a:buNone/>
                      </a:pPr>
                      <a:r>
                        <a:rPr lang="en-IN" sz="1400">
                          <a:effectLst/>
                        </a:rPr>
                        <a:t>3. Interference &amp; Distance</a:t>
                      </a:r>
                      <a:endParaRPr lang="en-IN" sz="1400">
                        <a:effectLst/>
                        <a:latin typeface="Google Sans Text"/>
                      </a:endParaRPr>
                    </a:p>
                  </a:txBody>
                  <a:tcPr marL="69808" marR="69808" marT="46538" marB="46538" anchor="ctr"/>
                </a:tc>
                <a:tc>
                  <a:txBody>
                    <a:bodyPr/>
                    <a:lstStyle/>
                    <a:p>
                      <a:pPr marL="0" marR="0">
                        <a:spcAft>
                          <a:spcPts val="2400"/>
                        </a:spcAft>
                        <a:buNone/>
                      </a:pPr>
                      <a:r>
                        <a:rPr lang="en-IN" sz="1400">
                          <a:effectLst/>
                        </a:rPr>
                        <a:t>Vulnerable to electromagnetic interference (EMI); limited to a maximum run of 100 meters per segment. </a:t>
                      </a:r>
                      <a:endParaRPr lang="en-IN" sz="1400">
                        <a:effectLst/>
                        <a:latin typeface="Google Sans Text"/>
                      </a:endParaRPr>
                    </a:p>
                  </a:txBody>
                  <a:tcPr marL="69808" marR="69808" marT="46538" marB="46538" anchor="ctr"/>
                </a:tc>
                <a:tc>
                  <a:txBody>
                    <a:bodyPr/>
                    <a:lstStyle/>
                    <a:p>
                      <a:pPr marL="0" marR="0">
                        <a:spcAft>
                          <a:spcPts val="2400"/>
                        </a:spcAft>
                        <a:buNone/>
                      </a:pPr>
                      <a:r>
                        <a:rPr lang="en-IN" sz="1400" dirty="0">
                          <a:effectLst/>
                        </a:rPr>
                        <a:t>Completely immune to electrical and electromagnetic interference; capable of transmitting data across </a:t>
                      </a:r>
                      <a:r>
                        <a:rPr lang="en-IN" sz="1400" dirty="0" err="1">
                          <a:effectLst/>
                        </a:rPr>
                        <a:t>kilometers</a:t>
                      </a:r>
                      <a:r>
                        <a:rPr lang="en-IN" sz="1400" dirty="0">
                          <a:effectLst/>
                        </a:rPr>
                        <a:t> with minimal signal loss. </a:t>
                      </a:r>
                      <a:endParaRPr lang="en-IN" sz="1400" dirty="0">
                        <a:effectLst/>
                        <a:latin typeface="Google Sans Text"/>
                      </a:endParaRPr>
                    </a:p>
                  </a:txBody>
                  <a:tcPr marL="69808" marR="69808" marT="46538" marB="46538" anchor="ctr"/>
                </a:tc>
                <a:extLst>
                  <a:ext uri="{0D108BD9-81ED-4DB2-BD59-A6C34878D82A}">
                    <a16:rowId xmlns:a16="http://schemas.microsoft.com/office/drawing/2014/main" val="4212511624"/>
                  </a:ext>
                </a:extLst>
              </a:tr>
            </a:tbl>
          </a:graphicData>
        </a:graphic>
      </p:graphicFrame>
      <p:sp>
        <p:nvSpPr>
          <p:cNvPr id="4" name="TextBox 3">
            <a:extLst>
              <a:ext uri="{FF2B5EF4-FFF2-40B4-BE49-F238E27FC236}">
                <a16:creationId xmlns:a16="http://schemas.microsoft.com/office/drawing/2014/main" id="{80ACA9B8-5AD8-502C-8177-BDB8466CF4B4}"/>
              </a:ext>
            </a:extLst>
          </p:cNvPr>
          <p:cNvSpPr txBox="1"/>
          <p:nvPr/>
        </p:nvSpPr>
        <p:spPr>
          <a:xfrm>
            <a:off x="492711" y="312711"/>
            <a:ext cx="8966447" cy="738664"/>
          </a:xfrm>
          <a:prstGeom prst="rect">
            <a:avLst/>
          </a:prstGeom>
          <a:noFill/>
        </p:spPr>
        <p:txBody>
          <a:bodyPr wrap="square">
            <a:spAutoFit/>
          </a:bodyPr>
          <a:lstStyle/>
          <a:p>
            <a:r>
              <a:rPr lang="en-IN" sz="2400" b="1" dirty="0">
                <a:solidFill>
                  <a:srgbClr val="FFFF00"/>
                </a:solidFill>
                <a:highlight>
                  <a:srgbClr val="008080"/>
                </a:highlight>
              </a:rPr>
              <a:t>Key Differences Between Ethernet and Fiber Optic Cables</a:t>
            </a:r>
          </a:p>
          <a:p>
            <a:pPr marL="0" marR="0">
              <a:buNone/>
            </a:pPr>
            <a:endParaRPr lang="en-IN" dirty="0">
              <a:effectLst/>
              <a:latin typeface="Google Sans Text"/>
            </a:endParaRPr>
          </a:p>
        </p:txBody>
      </p:sp>
      <p:sp>
        <p:nvSpPr>
          <p:cNvPr id="6" name="TextBox 5">
            <a:extLst>
              <a:ext uri="{FF2B5EF4-FFF2-40B4-BE49-F238E27FC236}">
                <a16:creationId xmlns:a16="http://schemas.microsoft.com/office/drawing/2014/main" id="{A7D70FCD-5CCA-A1D9-1FD9-1FD9B878A0E3}"/>
              </a:ext>
            </a:extLst>
          </p:cNvPr>
          <p:cNvSpPr txBox="1"/>
          <p:nvPr/>
        </p:nvSpPr>
        <p:spPr>
          <a:xfrm>
            <a:off x="492711" y="5517748"/>
            <a:ext cx="8651289" cy="1200329"/>
          </a:xfrm>
          <a:prstGeom prst="rect">
            <a:avLst/>
          </a:prstGeom>
          <a:noFill/>
        </p:spPr>
        <p:txBody>
          <a:bodyPr wrap="square">
            <a:spAutoFit/>
          </a:bodyPr>
          <a:lstStyle/>
          <a:p>
            <a:pPr marR="0" indent="-342900">
              <a:buFont typeface="Arial" panose="020B0604020202020204" pitchFamily="34" charset="0"/>
              <a:buChar char="•"/>
            </a:pPr>
            <a:r>
              <a:rPr lang="en-IN" sz="1800" b="1" dirty="0"/>
              <a:t>Real-World Example for Ethernet:</a:t>
            </a:r>
            <a:r>
              <a:rPr lang="en-IN" sz="1800" dirty="0"/>
              <a:t> Connecting a desktop computer directly to a home or office Wi-Fi router via a wall jack. </a:t>
            </a:r>
          </a:p>
          <a:p>
            <a:pPr marR="0" indent="-342900">
              <a:buFont typeface="Arial" panose="020B0604020202020204" pitchFamily="34" charset="0"/>
              <a:buChar char="•"/>
            </a:pPr>
            <a:r>
              <a:rPr lang="en-IN" sz="1800" b="1" dirty="0"/>
              <a:t>Real-World Example for Fiber Optics:</a:t>
            </a:r>
            <a:r>
              <a:rPr lang="en-IN" sz="1800" dirty="0"/>
              <a:t> Connecting high-speed internet backbones between buildings across a large college campus or wide area networks (WANs).</a:t>
            </a:r>
            <a:endParaRPr lang="en-IN" sz="1800" dirty="0">
              <a:latin typeface="Google Sans Text"/>
            </a:endParaRPr>
          </a:p>
        </p:txBody>
      </p:sp>
    </p:spTree>
    <p:extLst>
      <p:ext uri="{BB962C8B-B14F-4D97-AF65-F5344CB8AC3E}">
        <p14:creationId xmlns:p14="http://schemas.microsoft.com/office/powerpoint/2010/main" val="2543824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F61282-1379-9E91-1BCA-7CB98DC930E2}"/>
              </a:ext>
            </a:extLst>
          </p:cNvPr>
          <p:cNvPicPr>
            <a:picLocks noChangeAspect="1"/>
          </p:cNvPicPr>
          <p:nvPr/>
        </p:nvPicPr>
        <p:blipFill>
          <a:blip r:embed="rId2"/>
          <a:stretch>
            <a:fillRect/>
          </a:stretch>
        </p:blipFill>
        <p:spPr>
          <a:xfrm>
            <a:off x="0" y="1020192"/>
            <a:ext cx="9144000" cy="6096000"/>
          </a:xfrm>
          <a:prstGeom prst="rect">
            <a:avLst/>
          </a:prstGeom>
        </p:spPr>
      </p:pic>
      <p:sp>
        <p:nvSpPr>
          <p:cNvPr id="4" name="Title 3">
            <a:extLst>
              <a:ext uri="{FF2B5EF4-FFF2-40B4-BE49-F238E27FC236}">
                <a16:creationId xmlns:a16="http://schemas.microsoft.com/office/drawing/2014/main" id="{2166944D-1C36-CEE6-7E2D-15D17514A67B}"/>
              </a:ext>
            </a:extLst>
          </p:cNvPr>
          <p:cNvSpPr>
            <a:spLocks noGrp="1"/>
          </p:cNvSpPr>
          <p:nvPr>
            <p:ph type="title"/>
          </p:nvPr>
        </p:nvSpPr>
        <p:spPr>
          <a:xfrm>
            <a:off x="3087729" y="396706"/>
            <a:ext cx="7334620" cy="469375"/>
          </a:xfrm>
        </p:spPr>
        <p:txBody>
          <a:bodyPr>
            <a:normAutofit fontScale="90000"/>
          </a:bodyPr>
          <a:lstStyle/>
          <a:p>
            <a:r>
              <a:rPr lang="en-US" b="1" dirty="0">
                <a:solidFill>
                  <a:schemeClr val="accent2">
                    <a:lumMod val="40000"/>
                    <a:lumOff val="60000"/>
                  </a:schemeClr>
                </a:solidFill>
                <a:highlight>
                  <a:srgbClr val="000080"/>
                </a:highlight>
              </a:rPr>
              <a:t>DIAGRAM</a:t>
            </a:r>
            <a:endParaRPr lang="en-IN" b="1" dirty="0">
              <a:solidFill>
                <a:schemeClr val="accent2">
                  <a:lumMod val="40000"/>
                  <a:lumOff val="60000"/>
                </a:schemeClr>
              </a:solidFill>
              <a:highlight>
                <a:srgbClr val="000080"/>
              </a:highlight>
            </a:endParaRPr>
          </a:p>
        </p:txBody>
      </p:sp>
    </p:spTree>
    <p:extLst>
      <p:ext uri="{BB962C8B-B14F-4D97-AF65-F5344CB8AC3E}">
        <p14:creationId xmlns:p14="http://schemas.microsoft.com/office/powerpoint/2010/main" val="3585714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E9E271-E5BE-6227-0F3E-48BF67D90230}"/>
              </a:ext>
            </a:extLst>
          </p:cNvPr>
          <p:cNvSpPr txBox="1"/>
          <p:nvPr/>
        </p:nvSpPr>
        <p:spPr>
          <a:xfrm>
            <a:off x="1003176" y="474345"/>
            <a:ext cx="7386222" cy="5078313"/>
          </a:xfrm>
          <a:prstGeom prst="rect">
            <a:avLst/>
          </a:prstGeom>
          <a:noFill/>
        </p:spPr>
        <p:txBody>
          <a:bodyPr wrap="square">
            <a:spAutoFit/>
          </a:bodyPr>
          <a:lstStyle/>
          <a:p>
            <a:pPr>
              <a:buNone/>
            </a:pPr>
            <a:r>
              <a:rPr lang="en-IN" b="1" dirty="0">
                <a:solidFill>
                  <a:srgbClr val="00B050"/>
                </a:solidFill>
                <a:highlight>
                  <a:srgbClr val="FFFF00"/>
                </a:highlight>
              </a:rPr>
              <a:t>Step-by-Step Guide to Attach an RJ45 Connector to a CAT6 Cable</a:t>
            </a:r>
          </a:p>
          <a:p>
            <a:pPr marL="342900" lvl="0" indent="-342900">
              <a:buFont typeface="+mj-lt"/>
              <a:buAutoNum type="arabicPeriod"/>
            </a:pPr>
            <a:r>
              <a:rPr lang="en-IN" b="1" dirty="0"/>
              <a:t>Strip the Outer Jacket:</a:t>
            </a:r>
            <a:r>
              <a:rPr lang="en-IN" dirty="0"/>
              <a:t> Use the wire stripper blade on your crimping tool to strip off about 1.5 to 2 inches of the outer PVC jacket of the CAT6 cable without nicking the inner wires.</a:t>
            </a:r>
          </a:p>
          <a:p>
            <a:pPr marL="342900" lvl="0" indent="-342900">
              <a:buFont typeface="+mj-lt"/>
              <a:buAutoNum type="arabicPeriod"/>
            </a:pPr>
            <a:r>
              <a:rPr lang="en-IN" b="1" dirty="0"/>
              <a:t>Untwist and Align Wires:</a:t>
            </a:r>
            <a:r>
              <a:rPr lang="en-IN" dirty="0"/>
              <a:t> Untwist the four pairs of </a:t>
            </a:r>
            <a:r>
              <a:rPr lang="en-IN" dirty="0" err="1"/>
              <a:t>colored</a:t>
            </a:r>
            <a:r>
              <a:rPr lang="en-IN" dirty="0"/>
              <a:t> wires and arrange them strictly in the </a:t>
            </a:r>
            <a:r>
              <a:rPr lang="en-IN" b="1" dirty="0"/>
              <a:t>T568B order</a:t>
            </a:r>
            <a:r>
              <a:rPr lang="en-IN" dirty="0"/>
              <a:t> from left to right: </a:t>
            </a:r>
            <a:r>
              <a:rPr lang="en-IN" i="1" dirty="0"/>
              <a:t>White/Orange, Orange, White/Green, Blue, White/Blue, Green, White/Brown, Brown</a:t>
            </a:r>
            <a:r>
              <a:rPr lang="en-IN" dirty="0"/>
              <a:t>.</a:t>
            </a:r>
          </a:p>
          <a:p>
            <a:pPr marL="342900" lvl="0" indent="-342900">
              <a:buFont typeface="+mj-lt"/>
              <a:buAutoNum type="arabicPeriod"/>
            </a:pPr>
            <a:r>
              <a:rPr lang="en-IN" b="1" dirty="0"/>
              <a:t>Trim the Wires Evenly:</a:t>
            </a:r>
            <a:r>
              <a:rPr lang="en-IN" dirty="0"/>
              <a:t> Hold the aligned wires tightly between your fingers and use scissors or the cutting blade of the crimper to trim the ends straight, leaving about 1/2 inch of exposed wire.</a:t>
            </a:r>
          </a:p>
          <a:p>
            <a:pPr marL="342900" lvl="0" indent="-342900">
              <a:buFont typeface="+mj-lt"/>
              <a:buAutoNum type="arabicPeriod"/>
            </a:pPr>
            <a:r>
              <a:rPr lang="en-IN" b="1" dirty="0"/>
              <a:t>Insert into RJ45 Connector:</a:t>
            </a:r>
            <a:r>
              <a:rPr lang="en-IN" dirty="0"/>
              <a:t> Carefully slide the trimmed wires into the RJ45 modular plug, ensuring that each wire goes into its designated guide channel all the way to the front tip, and the outer cable jacket is tucked inside under the locking tab.</a:t>
            </a:r>
          </a:p>
          <a:p>
            <a:pPr marL="342900" lvl="0" indent="-342900">
              <a:buFont typeface="+mj-lt"/>
              <a:buAutoNum type="arabicPeriod"/>
            </a:pPr>
            <a:r>
              <a:rPr lang="en-IN" b="1" dirty="0"/>
              <a:t>Crimp the Connector:</a:t>
            </a:r>
            <a:r>
              <a:rPr lang="en-IN" dirty="0"/>
              <a:t> Insert the prepared RJ45 plug firmly into the crimping tool slot and squeeze the handles tightly together until the metal pins pierce the wire insulation and lock securely into place.</a:t>
            </a:r>
          </a:p>
        </p:txBody>
      </p:sp>
    </p:spTree>
    <p:extLst>
      <p:ext uri="{BB962C8B-B14F-4D97-AF65-F5344CB8AC3E}">
        <p14:creationId xmlns:p14="http://schemas.microsoft.com/office/powerpoint/2010/main" val="2060160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18AB91-3E93-0B43-FE48-ABFFAB156451}"/>
              </a:ext>
            </a:extLst>
          </p:cNvPr>
          <p:cNvSpPr txBox="1"/>
          <p:nvPr/>
        </p:nvSpPr>
        <p:spPr>
          <a:xfrm>
            <a:off x="1307236" y="612844"/>
            <a:ext cx="7020017" cy="6001643"/>
          </a:xfrm>
          <a:prstGeom prst="rect">
            <a:avLst/>
          </a:prstGeom>
          <a:noFill/>
        </p:spPr>
        <p:txBody>
          <a:bodyPr wrap="square">
            <a:spAutoFit/>
          </a:bodyPr>
          <a:lstStyle/>
          <a:p>
            <a:pPr marL="0" marR="0">
              <a:buNone/>
            </a:pPr>
            <a:r>
              <a:rPr lang="en-IN" sz="2400" b="1" dirty="0">
                <a:solidFill>
                  <a:schemeClr val="bg1"/>
                </a:solidFill>
                <a:effectLst/>
                <a:highlight>
                  <a:srgbClr val="000080"/>
                </a:highlight>
                <a:latin typeface="+mn-lt"/>
              </a:rPr>
              <a:t>Gaming Caf</a:t>
            </a:r>
            <a:r>
              <a:rPr lang="en-IN" sz="2400" b="1" dirty="0">
                <a:solidFill>
                  <a:schemeClr val="bg1"/>
                </a:solidFill>
                <a:highlight>
                  <a:srgbClr val="000080"/>
                </a:highlight>
              </a:rPr>
              <a:t>e </a:t>
            </a:r>
            <a:r>
              <a:rPr lang="en-IN" sz="2400" b="1" dirty="0">
                <a:solidFill>
                  <a:schemeClr val="bg1"/>
                </a:solidFill>
                <a:effectLst/>
                <a:highlight>
                  <a:srgbClr val="000080"/>
                </a:highlight>
                <a:latin typeface="+mn-lt"/>
              </a:rPr>
              <a:t>Network Setup Scenario (10 PCs)</a:t>
            </a:r>
          </a:p>
          <a:p>
            <a:pPr marL="0" marR="0" lvl="0" indent="-342900">
              <a:buFont typeface="Arial" panose="020B0604020202020204" pitchFamily="34" charset="0"/>
              <a:buChar char="•"/>
            </a:pPr>
            <a:r>
              <a:rPr lang="en-IN" sz="2400" b="1" dirty="0">
                <a:effectLst/>
                <a:latin typeface="+mn-lt"/>
              </a:rPr>
              <a:t>Chosen Cable Type:</a:t>
            </a:r>
            <a:r>
              <a:rPr lang="en-IN" sz="2400" dirty="0">
                <a:effectLst/>
                <a:latin typeface="+mn-lt"/>
              </a:rPr>
              <a:t> Ethernet (Cat6 Copper Cables). </a:t>
            </a:r>
          </a:p>
          <a:p>
            <a:pPr marL="0" marR="0" lvl="0" indent="-342900">
              <a:buFont typeface="Arial" panose="020B0604020202020204" pitchFamily="34" charset="0"/>
              <a:buChar char="•"/>
            </a:pPr>
            <a:endParaRPr lang="en-IN" sz="2400" dirty="0">
              <a:effectLst/>
              <a:latin typeface="+mn-lt"/>
            </a:endParaRPr>
          </a:p>
          <a:p>
            <a:pPr marL="0" marR="0" lvl="0" indent="-342900">
              <a:buFont typeface="Arial" panose="020B0604020202020204" pitchFamily="34" charset="0"/>
              <a:buChar char="•"/>
            </a:pPr>
            <a:r>
              <a:rPr lang="en-IN" sz="2400" b="1" dirty="0">
                <a:effectLst/>
                <a:latin typeface="+mn-lt"/>
              </a:rPr>
              <a:t>Chosen Tool:</a:t>
            </a:r>
            <a:r>
              <a:rPr lang="en-IN" sz="2400" dirty="0">
                <a:effectLst/>
                <a:latin typeface="+mn-lt"/>
              </a:rPr>
              <a:t> RJ45 Crimper.</a:t>
            </a:r>
          </a:p>
          <a:p>
            <a:pPr marL="0" marR="0" lvl="0" indent="-342900">
              <a:buFont typeface="Arial" panose="020B0604020202020204" pitchFamily="34" charset="0"/>
              <a:buChar char="•"/>
            </a:pPr>
            <a:endParaRPr lang="en-IN" sz="2400" dirty="0">
              <a:effectLst/>
              <a:latin typeface="+mn-lt"/>
            </a:endParaRPr>
          </a:p>
          <a:p>
            <a:pPr marL="0" marR="0" lvl="0" indent="-342900">
              <a:buFont typeface="Arial" panose="020B0604020202020204" pitchFamily="34" charset="0"/>
              <a:buChar char="•"/>
            </a:pPr>
            <a:r>
              <a:rPr lang="en-IN" sz="2400" b="1" dirty="0">
                <a:effectLst/>
                <a:latin typeface="+mn-lt"/>
              </a:rPr>
              <a:t>Justification:</a:t>
            </a:r>
            <a:r>
              <a:rPr lang="en-IN" sz="2400" dirty="0">
                <a:effectLst/>
                <a:latin typeface="+mn-lt"/>
              </a:rPr>
              <a:t> For a local gaming café with 10 PCs located within a single room or building, Cat6 Ethernet cables and an RJ45 crimper provide the ideal combination of ultra-low latency, stability, and affordability. Since the distances between the PCs and the central switch are well within the 100-meter limit, copper Ethernet handles high-speed multiplayer gaming perfectly without incurring the high equipment and installation costs of </a:t>
            </a:r>
            <a:r>
              <a:rPr lang="en-IN" sz="2400" dirty="0" err="1">
                <a:effectLst/>
                <a:latin typeface="+mn-lt"/>
              </a:rPr>
              <a:t>fiber</a:t>
            </a:r>
            <a:r>
              <a:rPr lang="en-IN" sz="2400" dirty="0">
                <a:effectLst/>
                <a:latin typeface="+mn-lt"/>
              </a:rPr>
              <a:t> optics.</a:t>
            </a:r>
            <a:endParaRPr lang="en-IN" sz="2400" dirty="0">
              <a:effectLst/>
              <a:latin typeface="Google Sans Text"/>
            </a:endParaRPr>
          </a:p>
        </p:txBody>
      </p:sp>
    </p:spTree>
    <p:extLst>
      <p:ext uri="{BB962C8B-B14F-4D97-AF65-F5344CB8AC3E}">
        <p14:creationId xmlns:p14="http://schemas.microsoft.com/office/powerpoint/2010/main" val="27317117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TotalTime>
  <Words>496</Words>
  <Application>Microsoft Office PowerPoint</Application>
  <PresentationFormat>On-screen Show (4:3)</PresentationFormat>
  <Paragraphs>28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Google Sans Text</vt:lpstr>
      <vt:lpstr>Office Theme</vt:lpstr>
      <vt:lpstr>PowerPoint Presentation</vt:lpstr>
      <vt:lpstr>DIAGRAM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Mayur shrimali</dc:creator>
  <cp:lastModifiedBy>Mayur shrimali</cp:lastModifiedBy>
  <cp:revision>1</cp:revision>
  <dcterms:created xsi:type="dcterms:W3CDTF">2026-10-27T05:47:02Z</dcterms:created>
  <dcterms:modified xsi:type="dcterms:W3CDTF">2026-10-27T05:54:52Z</dcterms:modified>
</cp:coreProperties>
</file>